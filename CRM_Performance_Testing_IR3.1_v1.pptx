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notesSlides/notesSlide3.xml" ContentType="application/vnd.openxmlformats-officedocument.presentationml.notesSlide+xml"/>
  <Override PartName="/ppt/comments/modernComment_102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60" r:id="rId4"/>
    <p:sldId id="257" r:id="rId5"/>
    <p:sldId id="258" r:id="rId6"/>
    <p:sldId id="259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CEC304-FD0B-4C3F-2650-F3BF0629C02E}" name="Nanda, Ritesh" initials="NR" userId="S::rxn0oda@fpl.com::61b3d111-9f16-4c73-8fb3-feed79743d95" providerId="AD"/>
  <p188:author id="{8141CEF2-94E8-AA16-395D-841A4AFCD734}" name="Polavarapu, Sravya" initials="PS" userId="S::sxp09dc@fpl.com::c1e8e4de-966f-4246-b41e-a152c6d5e786" providerId="AD"/>
  <p188:author id="{0C1CD0F8-D6C2-AF32-B0A9-05CCF935D79D}" name="Polavarapu, Sravya" initials="" userId="S::SXP09DC@fpl.com::c1e8e4de-966f-4246-b41e-a152c6d5e78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32E449-0915-3489-F13D-4958BF900549}" v="2" dt="2026-03-06T21:12:09.810"/>
    <p1510:client id="{3D5DB5FC-4658-F583-C732-14008B1B5411}" v="228" dt="2026-03-06T21:08:18.429"/>
    <p1510:client id="{402E821D-757D-4171-8ACA-4F435E7B4D78}" v="60" dt="2026-03-06T21:59:43.378"/>
    <p1510:client id="{86641220-15A7-299D-70B6-6E66164225E5}" v="853" dt="2026-03-06T23:48:30.708"/>
    <p1510:client id="{B88C122A-6338-C335-F1BF-38D15A97FF11}" v="9" dt="2026-03-06T20:45:56.492"/>
    <p1510:client id="{EB9ED842-BBED-CD7F-F68E-92047C0777E5}" v="25" dt="2026-03-06T08:38:15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B4B6D28-434E-445B-9A44-2474DC01FB06}" authorId="{DDCEC304-FD0B-4C3F-2650-F3BF0629C02E}" created="2026-03-06T08:30:35.443" startDate="2026-03-06T08:30:35.443" dueDate="2026-03-06T08:30:35.443" assignedTo="{0C1CD0F8-D6C2-AF32-B0A9-05CCF935D79D}" title="@Polavarapu, Sravya - Please double check all the data on these tabs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31" creationId="{00000000-0000-0000-0000-000000000000}"/>
    </ac:deMkLst>
    <p188:replyLst>
      <p188:reply id="{BAA670C8-582B-40A3-A1E6-3EE85579B583}" authorId="{DDCEC304-FD0B-4C3F-2650-F3BF0629C02E}" created="2026-03-06T20:58:33.233">
        <p188:txBody>
          <a:bodyPr/>
          <a:lstStyle/>
          <a:p>
            <a:r>
              <a:rPr lang="en-US"/>
              <a:t>[@Polavarapu, Sravya] - does this look good?</a:t>
            </a:r>
          </a:p>
        </p188:txBody>
      </p188:reply>
      <p188:reply id="{7E35951F-6B57-4524-AE9C-C726C9CF24B2}" authorId="{8141CEF2-94E8-AA16-395D-841A4AFCD734}" created="2026-03-06T21:12:09.810">
        <p188:txBody>
          <a:bodyPr/>
          <a:lstStyle/>
          <a:p>
            <a:r>
              <a:rPr lang="en-US"/>
              <a:t>yes looks good</a:t>
            </a:r>
          </a:p>
        </p188:txBody>
      </p188:reply>
    </p188:replyLst>
    <p188:txBody>
      <a:bodyPr/>
      <a:lstStyle/>
      <a:p>
        <a:r>
          <a:rPr lang="en-US"/>
          <a:t>[@Polavarapu, Sravya] - Please double check all the data on these tabs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3-06T08:30:35.443" id="{9653CB4E-37FF-41A4-96E8-175851B5B4AA}">
              <p228:atrbtn authorId="{DDCEC304-FD0B-4C3F-2650-F3BF0629C02E}"/>
              <p228:anchr>
                <p228:comment id="{DB4B6D28-434E-445B-9A44-2474DC01FB06}"/>
              </p228:anchr>
              <p228:add/>
            </p228:event>
            <p228:event time="2026-03-06T08:30:35.443" id="{A122E5D0-FF4E-4F01-B3CB-DF2E553E94B7}">
              <p228:atrbtn authorId="{DDCEC304-FD0B-4C3F-2650-F3BF0629C02E}"/>
              <p228:anchr>
                <p228:comment id="{DB4B6D28-434E-445B-9A44-2474DC01FB06}"/>
              </p228:anchr>
              <p228:asgn authorId="{0C1CD0F8-D6C2-AF32-B0A9-05CCF935D79D}"/>
            </p228:event>
            <p228:event time="2026-03-06T08:30:35.443" id="{1A22E219-F466-445C-B461-CAD164112999}">
              <p228:atrbtn authorId="{DDCEC304-FD0B-4C3F-2650-F3BF0629C02E}"/>
              <p228:anchr>
                <p228:comment id="{DB4B6D28-434E-445B-9A44-2474DC01FB06}"/>
              </p228:anchr>
              <p228:title val="@Polavarapu, Sravya - Please double check all the data on these tabs"/>
            </p228:event>
            <p228:event time="2026-03-06T08:30:35.443" id="{7FF55692-81C2-4D9D-BCB4-A83C61FA3EE8}">
              <p228:atrbtn authorId="{DDCEC304-FD0B-4C3F-2650-F3BF0629C02E}"/>
              <p228:anchr>
                <p228:comment id="{DB4B6D28-434E-445B-9A44-2474DC01FB06}"/>
              </p228:anchr>
              <p228:date stDt="2026-03-06T08:30:35.443" endDt="2026-03-06T08:30:35.443"/>
            </p228:event>
          </p228:history>
        </p228:taskDetails>
      </p:ext>
    </p188:extLst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C610A1-2FE0-4253-BCD9-10D075D4F026}" authorId="{DDCEC304-FD0B-4C3F-2650-F3BF0629C02E}" created="2026-03-06T08:29:02.378" startDate="2026-03-06T08:29:02.378" dueDate="2026-03-06T08:29:02.378" assignedTo="{0C1CD0F8-D6C2-AF32-B0A9-05CCF935D79D}" title="@Polavarapu, Sravya - Please enter the new numbers for the final test here, so I can turn it to a positive result slide">
    <pc:sldMkLst xmlns:pc="http://schemas.microsoft.com/office/powerpoint/2013/main/command">
      <pc:docMk/>
      <pc:sldMk cId="0" sldId="258"/>
    </pc:sldMkLst>
    <p188:replyLst>
      <p188:reply id="{4FFFCDDD-300D-4551-9083-A1E4FFD6A876}" authorId="{DDCEC304-FD0B-4C3F-2650-F3BF0629C02E}" created="2026-03-06T20:59:20.734">
        <p188:txBody>
          <a:bodyPr/>
          <a:lstStyle/>
          <a:p>
            <a:r>
              <a:rPr lang="en-US"/>
              <a:t>[@Polavarapu, Sravya] - Post today's call, please update this ASAP...thanks!
[@Poda, Sunanda], [@Germans, Anto] </a:t>
            </a:r>
          </a:p>
        </p188:txBody>
      </p188:reply>
    </p188:replyLst>
    <p188:txBody>
      <a:bodyPr/>
      <a:lstStyle/>
      <a:p>
        <a:r>
          <a:rPr lang="en-US"/>
          <a:t>[@Polavarapu, Sravya] - Please enter the new numbers for the final test here, so I can turn it to a positive result slide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3-06T08:29:02.378" id="{427831D3-5924-4725-8AE0-602685CD69AC}">
              <p228:atrbtn authorId="{DDCEC304-FD0B-4C3F-2650-F3BF0629C02E}"/>
              <p228:anchr>
                <p228:comment id="{4FC610A1-2FE0-4253-BCD9-10D075D4F026}"/>
              </p228:anchr>
              <p228:add/>
            </p228:event>
            <p228:event time="2026-03-06T08:29:02.378" id="{51644F75-9863-45B1-95AB-16F8C0E5887B}">
              <p228:atrbtn authorId="{DDCEC304-FD0B-4C3F-2650-F3BF0629C02E}"/>
              <p228:anchr>
                <p228:comment id="{4FC610A1-2FE0-4253-BCD9-10D075D4F026}"/>
              </p228:anchr>
              <p228:asgn authorId="{0C1CD0F8-D6C2-AF32-B0A9-05CCF935D79D}"/>
            </p228:event>
            <p228:event time="2026-03-06T08:29:02.378" id="{1F23F699-BA6F-4A4F-9580-123DEBA7B73D}">
              <p228:atrbtn authorId="{DDCEC304-FD0B-4C3F-2650-F3BF0629C02E}"/>
              <p228:anchr>
                <p228:comment id="{4FC610A1-2FE0-4253-BCD9-10D075D4F026}"/>
              </p228:anchr>
              <p228:title val="@Polavarapu, Sravya - Please enter the new numbers for the final test here, so I can turn it to a positive result slide"/>
            </p228:event>
            <p228:event time="2026-03-06T08:29:02.378" id="{A50F7641-75E2-415C-8FFF-32CB1529F4CF}">
              <p228:atrbtn authorId="{DDCEC304-FD0B-4C3F-2650-F3BF0629C02E}"/>
              <p228:anchr>
                <p228:comment id="{4FC610A1-2FE0-4253-BCD9-10D075D4F026}"/>
              </p228:anchr>
              <p228:date stDt="2026-03-06T08:29:02.378" endDt="2026-03-06T08:29:02.378"/>
            </p228:event>
            <p228:event time="2026-03-06T08:31:16.194" id="{52C55211-8181-4D2A-87C2-D50F268A3FDE}">
              <p228:atrbtn authorId="{DDCEC304-FD0B-4C3F-2650-F3BF0629C02E}"/>
              <p228:anchr>
                <p228:comment id="{00000000-0000-0000-0000-000000000000}"/>
              </p228:anchr>
              <p228:pcntCmplt val="100000"/>
            </p228:event>
            <p228:event time="2026-03-06T08:31:20.398" id="{9813335F-5FE0-4102-9A10-DEA3E9BE68AB}">
              <p228:atrbtn authorId="{DDCEC304-FD0B-4C3F-2650-F3BF0629C02E}"/>
              <p228:anchr>
                <p228:comment id="{00000000-0000-0000-0000-000000000000}"/>
              </p228:anchr>
              <p228:pcntCmplt val="0"/>
            </p228:event>
          </p228:history>
        </p228:taskDetails>
      </p:ext>
    </p188:extLst>
  </p188:cm>
  <p188:cm id="{3479571B-1358-4D83-B076-56B4A6247972}" authorId="{DDCEC304-FD0B-4C3F-2650-F3BF0629C02E}" created="2026-03-06T22:40:56.488" startDate="2026-03-06T22:40:56.488" dueDate="2026-03-06T22:40:56.488" assignedTo="{0C1CD0F8-D6C2-AF32-B0A9-05CCF935D79D}" title="@Polavarapu, Sravya can you give me the breakdown of these 7.220 seconds?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70" creationId="{00000000-0000-0000-0000-000000000000}"/>
      <ac:txMk cp="0" len="5">
        <ac:context len="6" hash="2208851878"/>
      </ac:txMk>
    </ac:txMkLst>
    <p188:pos x="642937" y="133945"/>
    <p188:txBody>
      <a:bodyPr/>
      <a:lstStyle/>
      <a:p>
        <a:r>
          <a:rPr lang="en-US"/>
          <a:t>[@Polavarapu, Sravya] can you give me the breakdown of these 7.220 seconds?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3-06T22:40:56.488" id="{DAE530FE-812B-4705-A8D4-E86720211CAE}">
              <p228:atrbtn authorId="{DDCEC304-FD0B-4C3F-2650-F3BF0629C02E}"/>
              <p228:anchr>
                <p228:comment id="{3479571B-1358-4D83-B076-56B4A6247972}"/>
              </p228:anchr>
              <p228:add/>
            </p228:event>
            <p228:event time="2026-03-06T22:40:56.488" id="{DF14C5A8-02BC-4A08-9A2D-C270C9E96758}">
              <p228:atrbtn authorId="{DDCEC304-FD0B-4C3F-2650-F3BF0629C02E}"/>
              <p228:anchr>
                <p228:comment id="{3479571B-1358-4D83-B076-56B4A6247972}"/>
              </p228:anchr>
              <p228:asgn authorId="{0C1CD0F8-D6C2-AF32-B0A9-05CCF935D79D}"/>
            </p228:event>
            <p228:event time="2026-03-06T22:40:56.488" id="{7F9159D1-5007-4B90-8386-3DD297F435E8}">
              <p228:atrbtn authorId="{DDCEC304-FD0B-4C3F-2650-F3BF0629C02E}"/>
              <p228:anchr>
                <p228:comment id="{3479571B-1358-4D83-B076-56B4A6247972}"/>
              </p228:anchr>
              <p228:title val="@Polavarapu, Sravya can you give me the breakdown of these 7.220 seconds?"/>
            </p228:event>
            <p228:event time="2026-03-06T22:40:56.488" id="{E4CD6B8A-995E-4F92-93DA-1366506D85C7}">
              <p228:atrbtn authorId="{DDCEC304-FD0B-4C3F-2650-F3BF0629C02E}"/>
              <p228:anchr>
                <p228:comment id="{3479571B-1358-4D83-B076-56B4A6247972}"/>
              </p228:anchr>
              <p228:date stDt="2026-03-06T22:40:56.488" endDt="2026-03-06T22:40:56.488"/>
            </p228:event>
          </p228:history>
        </p228:taskDetail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542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IR3.1 Performance Testing</a:t>
            </a:r>
            <a:endParaRPr lang="en-US" sz="40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>
                <a:solidFill>
                  <a:srgbClr val="90CAF9"/>
                </a:solidFill>
                <a:latin typeface="Calibri"/>
                <a:ea typeface="Calibri"/>
                <a:cs typeface="Calibri"/>
              </a:rPr>
              <a:t>Executive Summary —  XD CRM Program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804672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560320" cy="1737360"/>
          </a:xfrm>
          <a:prstGeom prst="rect">
            <a:avLst/>
          </a:prstGeom>
          <a:solidFill>
            <a:srgbClr val="0D2D5E"/>
          </a:solidFill>
          <a:ln w="1905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715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Approach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3383280" y="2606040"/>
            <a:ext cx="2560320" cy="1737360"/>
          </a:xfrm>
          <a:prstGeom prst="rect">
            <a:avLst/>
          </a:prstGeom>
          <a:solidFill>
            <a:srgbClr val="0D2D5E"/>
          </a:solidFill>
          <a:ln w="1905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2715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Volumes &amp; Ramp Strategy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6217920" y="2606040"/>
            <a:ext cx="2560320" cy="1737360"/>
          </a:xfrm>
          <a:prstGeom prst="rect">
            <a:avLst/>
          </a:prstGeom>
          <a:solidFill>
            <a:srgbClr val="0D2D5E"/>
          </a:solidFill>
          <a:ln w="1905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2715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630936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IR3.1 Results — Initial &amp; Latest Run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| CRM Program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337085-2FC0-DC4B-1E69-90333B71BD55}"/>
              </a:ext>
            </a:extLst>
          </p:cNvPr>
          <p:cNvSpPr txBox="1"/>
          <p:nvPr/>
        </p:nvSpPr>
        <p:spPr>
          <a:xfrm>
            <a:off x="337608" y="353684"/>
            <a:ext cx="17844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Put an Agenda here </a:t>
            </a: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2800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904B50-2AAE-FAE7-044B-C46D54C56DA7}"/>
              </a:ext>
            </a:extLst>
          </p:cNvPr>
          <p:cNvSpPr txBox="1"/>
          <p:nvPr/>
        </p:nvSpPr>
        <p:spPr>
          <a:xfrm>
            <a:off x="667177" y="570718"/>
            <a:ext cx="7962493" cy="69711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+mn-lt"/>
                <a:cs typeface="+mn-lt"/>
              </a:rPr>
              <a:t>High level summary as the first slide</a:t>
            </a:r>
            <a:endParaRPr lang="en-US" sz="1100" dirty="0">
              <a:ea typeface="+mn-lt"/>
              <a:cs typeface="+mn-lt"/>
            </a:endParaRPr>
          </a:p>
          <a:p>
            <a:endParaRPr lang="en-US" sz="1100" dirty="0">
              <a:ea typeface="+mn-lt"/>
              <a:cs typeface="+mn-lt"/>
            </a:endParaRPr>
          </a:p>
          <a:p>
            <a:r>
              <a:rPr lang="en-US" sz="1100" dirty="0">
                <a:ea typeface="+mn-lt"/>
                <a:cs typeface="+mn-lt"/>
              </a:rPr>
              <a:t>Executive Summary: Account 360 Performance Remediation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Status: 🔴 At Risk (Targeting March 11 Resolution)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Objective: Reduce Account 360 page load time from current 8–10s to production baseline of ~6.8s.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Current Performance Gap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Original State: 15–20 seconds (UAT 3.1 launch)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Current State: 8–10 seconds (Post-SAP &amp; API optimization)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Target State: &lt; 6.8 seconds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Key Improvements to Date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SAP Optimization (CRAID 2844): Resolved backend degradation; API response times stabilized at 3–4s.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API Sequencing (CRAID 3304): Adjusted calling order (Work Orders priority). Successfully reduced load time by ~2s, though results were below expectations.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Critical Blockers &amp; Root Cause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Defect CRAID 3309: Current analysis points to Salesforce </a:t>
            </a:r>
            <a:r>
              <a:rPr lang="en-US" sz="1100" dirty="0" err="1">
                <a:ea typeface="+mn-lt"/>
                <a:cs typeface="+mn-lt"/>
              </a:rPr>
              <a:t>Omnistudio</a:t>
            </a:r>
            <a:r>
              <a:rPr lang="en-US" sz="1100" dirty="0">
                <a:ea typeface="+mn-lt"/>
                <a:cs typeface="+mn-lt"/>
              </a:rPr>
              <a:t> framework issues. The foundational components are causing inconsistent rendering speeds independent of recent code builds.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Action: Initiated a Severity 1 case with Salesforce for immediate architectural support.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Timeline &amp; Next Steps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Mar 7–10: Deep-dive diagnosis and collaboration with Salesforce Support to optimize </a:t>
            </a:r>
            <a:r>
              <a:rPr lang="en-US" sz="1100" dirty="0" err="1">
                <a:ea typeface="+mn-lt"/>
                <a:cs typeface="+mn-lt"/>
              </a:rPr>
              <a:t>Omnistudio</a:t>
            </a:r>
            <a:r>
              <a:rPr lang="en-US" sz="1100" dirty="0">
                <a:ea typeface="+mn-lt"/>
                <a:cs typeface="+mn-lt"/>
              </a:rPr>
              <a:t> component overhead.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Mar 11: Completion of fixes, performance re-test, and detailed status update.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ETA for Resolution: March 11, 2025Executive Summary: Account 360 Performance Remediation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Status: 🔴 At Risk (Targeting March 11 Resolution)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Objective: Reduce Account 360 page load time from current 8–10s to production baseline of ~6.8s.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Current Performance Gap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Original State: 15–20 seconds (UAT 3.1 launch)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Current State: 8–10 seconds (Post-SAP &amp; API optimization)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Target State: &lt; 6.8 seconds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Key Improvements to Date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SAP Optimization (CRAID 2844): Resolved backend degradation; API response times stabilized at 3–4s.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API Sequencing (CRAID 3304): Adjusted calling order (Work Orders priority). Successfully reduced load time by ~2s, though results were below expectations.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Critical Blockers &amp; Root Cause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Defect CRAID 3309: Current analysis points to Salesforce </a:t>
            </a:r>
            <a:r>
              <a:rPr lang="en-US" sz="1100" dirty="0" err="1">
                <a:ea typeface="+mn-lt"/>
                <a:cs typeface="+mn-lt"/>
              </a:rPr>
              <a:t>Omnistudio</a:t>
            </a:r>
            <a:r>
              <a:rPr lang="en-US" sz="1100" dirty="0">
                <a:ea typeface="+mn-lt"/>
                <a:cs typeface="+mn-lt"/>
              </a:rPr>
              <a:t> framework issues. The foundational components are causing inconsistent rendering speeds independent of recent code builds.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Action: Initiated a Severity 1 case with Salesforce for immediate architectural support.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Timeline &amp; Next Steps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Mar 7–10: Deep-dive diagnosis and collaboration with Salesforce Support to optimize </a:t>
            </a:r>
            <a:r>
              <a:rPr lang="en-US" sz="1100" dirty="0" err="1">
                <a:ea typeface="+mn-lt"/>
                <a:cs typeface="+mn-lt"/>
              </a:rPr>
              <a:t>Omnistudio</a:t>
            </a:r>
            <a:r>
              <a:rPr lang="en-US" sz="1100" dirty="0">
                <a:ea typeface="+mn-lt"/>
                <a:cs typeface="+mn-lt"/>
              </a:rPr>
              <a:t> component overhead.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Mar 11: Completion of fixes, performance re-test, and detailed status update.</a:t>
            </a:r>
            <a:br>
              <a:rPr lang="en-US" sz="1100" dirty="0">
                <a:ea typeface="+mn-lt"/>
                <a:cs typeface="+mn-lt"/>
              </a:rPr>
            </a:br>
            <a:r>
              <a:rPr lang="en-US" sz="1100" dirty="0">
                <a:ea typeface="+mn-lt"/>
                <a:cs typeface="+mn-lt"/>
              </a:rPr>
              <a:t> • ETA for Resolution: March 11, 2025</a:t>
            </a:r>
            <a:endParaRPr lang="en-US">
              <a:ea typeface="Calibri"/>
              <a:cs typeface="Calibri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923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Approach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64008" cy="6583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052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Scope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2286000" y="1024128"/>
            <a:ext cx="14173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0" y="1060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UI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3703320" y="1179576"/>
            <a:ext cx="2743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977640" y="1024128"/>
            <a:ext cx="1417320" cy="31089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77640" y="1060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5394960" y="1179576"/>
            <a:ext cx="2743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0" y="1024128"/>
            <a:ext cx="141732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0" y="1060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7086600" y="1179576"/>
            <a:ext cx="2743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32020" y="134205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i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>Update this to bi-directional arrows to show end to end</a:t>
            </a:r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16002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1600200"/>
            <a:ext cx="64008" cy="16916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16916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Testing?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457200" y="1984248"/>
            <a:ext cx="388620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End-to-end XD CRM user workflows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Scenarios: Account 360, Premise 360, Customer 360 pages</a:t>
            </a:r>
            <a:endParaRPr lang="en-US" sz="100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Performance (response time) + Load (concurrent users)</a:t>
            </a:r>
            <a:endParaRPr lang="en-US" sz="100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Focus: Salesforce CRM pages under realistic production load and extended stress testing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4663440" y="16002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1600200"/>
            <a:ext cx="64008" cy="1691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16916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Volumes &amp; Data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4846320" y="1984248"/>
            <a:ext cx="388620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100 concurrent users × 25 calls each = 2,500 requests per hour</a:t>
            </a: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2,500 records is unique (no data reuse)</a:t>
            </a:r>
            <a:endParaRPr lang="en-US" sz="100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2500 requests are across the value streams such as Account 360, Premise 360 and Customer 360</a:t>
            </a: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SLA Threshold: 90th percentile response time &lt; 5 seconds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" y="336499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364992"/>
            <a:ext cx="64008" cy="169164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4564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Ramp-Up Strategy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457200" y="3749040"/>
            <a:ext cx="388620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1 new user added every 3 seconds (gradual ramp)</a:t>
            </a:r>
            <a:endParaRPr lang="en-US" sz="100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100 UNIQUE users fully ramped after ~300 seconds (5 min)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Every 3 minutes a transaction is executed by the user</a:t>
            </a:r>
            <a:endParaRPr lang="en-US" sz="1000" dirty="0">
              <a:solidFill>
                <a:srgbClr val="37474F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3,600 seconds (1 hour) per test run</a:t>
            </a:r>
          </a:p>
        </p:txBody>
      </p:sp>
      <p:sp>
        <p:nvSpPr>
          <p:cNvPr id="32" name="Shape 30"/>
          <p:cNvSpPr/>
          <p:nvPr/>
        </p:nvSpPr>
        <p:spPr>
          <a:xfrm>
            <a:off x="4663440" y="336499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3364992"/>
            <a:ext cx="64008" cy="16916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34564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Infrastructure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4846320" y="3749040"/>
            <a:ext cx="388620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Apache JMeter</a:t>
            </a:r>
            <a:endParaRPr lang="en-US" sz="100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Groups configured per scenario</a:t>
            </a:r>
            <a:endParaRPr lang="en-US" sz="100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Avg response time + 90th percentile line</a:t>
            </a: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ea typeface="Calibri"/>
                <a:cs typeface="Calibri"/>
              </a:rPr>
              <a:t>Industry standard: A good user experience falls close to &gt; </a:t>
            </a:r>
            <a:r>
              <a:rPr lang="en-US" sz="1000" dirty="0">
                <a:solidFill>
                  <a:srgbClr val="37474F"/>
                </a:solidFill>
                <a:ea typeface="Calibri"/>
                <a:cs typeface="Calibri"/>
              </a:rPr>
              <a:t>5 sec</a:t>
            </a:r>
            <a:endParaRPr lang="en-US" sz="1000" dirty="0">
              <a:ea typeface="Calibri"/>
              <a:cs typeface="Calibri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5001768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Performance Testing | IR3.1</a:t>
            </a:r>
            <a:endParaRPr lang="en-US" sz="90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7328F6E-6B1C-4B39-8415-ACFA893327F1}"/>
              </a:ext>
            </a:extLst>
          </p:cNvPr>
          <p:cNvCxnSpPr>
            <a:cxnSpLocks/>
          </p:cNvCxnSpPr>
          <p:nvPr/>
        </p:nvCxnSpPr>
        <p:spPr>
          <a:xfrm>
            <a:off x="7223760" y="1188720"/>
            <a:ext cx="0" cy="15333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IR3.1 Performance Test Results — Initial vs. Final Run Comparison</a:t>
            </a:r>
            <a:endParaRPr lang="en-US" sz="1900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20116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320040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Tested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320040" y="1344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· Premise · Customer 360</a:t>
            </a:r>
            <a:endParaRPr lang="en-US" sz="750"/>
          </a:p>
        </p:txBody>
      </p:sp>
      <p:sp>
        <p:nvSpPr>
          <p:cNvPr id="9" name="Shape 7"/>
          <p:cNvSpPr/>
          <p:nvPr/>
        </p:nvSpPr>
        <p:spPr>
          <a:xfrm>
            <a:off x="2441448" y="795528"/>
            <a:ext cx="20116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32888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3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2487168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Run Result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2487168" y="1344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360 pages failed SLA (Feb 20)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4608576" y="795528"/>
            <a:ext cx="20116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0016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CRAID-2844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4654296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Filed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4654296" y="1344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against all 3 scenarios</a:t>
            </a:r>
            <a:endParaRPr lang="en-US" sz="750"/>
          </a:p>
        </p:txBody>
      </p:sp>
      <p:sp>
        <p:nvSpPr>
          <p:cNvPr id="17" name="Shape 15"/>
          <p:cNvSpPr/>
          <p:nvPr/>
        </p:nvSpPr>
        <p:spPr>
          <a:xfrm>
            <a:off x="6775704" y="795528"/>
            <a:ext cx="20116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67144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2000"/>
          </a:p>
        </p:txBody>
      </p:sp>
      <p:sp>
        <p:nvSpPr>
          <p:cNvPr id="19" name="Text 17"/>
          <p:cNvSpPr/>
          <p:nvPr/>
        </p:nvSpPr>
        <p:spPr>
          <a:xfrm>
            <a:off x="6821424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Volume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6821424" y="1344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users × 25 calls, all unique</a:t>
            </a:r>
            <a:endParaRPr lang="en-US" sz="750"/>
          </a:p>
        </p:txBody>
      </p:sp>
      <p:sp>
        <p:nvSpPr>
          <p:cNvPr id="21" name="Shape 19"/>
          <p:cNvSpPr/>
          <p:nvPr/>
        </p:nvSpPr>
        <p:spPr>
          <a:xfrm>
            <a:off x="228600" y="1664208"/>
            <a:ext cx="1417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691640" y="1664208"/>
            <a:ext cx="3154680" cy="2560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1664208"/>
            <a:ext cx="4069080" cy="256032"/>
          </a:xfrm>
          <a:prstGeom prst="rect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1664208"/>
            <a:ext cx="0" cy="340522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91640" y="170078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Run  —  Feb 20, 2026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4846320" y="170078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Run  —  Mar 6, 2026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1691640" y="1920240"/>
            <a:ext cx="3154680" cy="274320"/>
          </a:xfrm>
          <a:prstGeom prst="rect">
            <a:avLst/>
          </a:prstGeom>
          <a:solidFill>
            <a:srgbClr val="22609E"/>
          </a:solidFill>
          <a:ln w="12700">
            <a:solidFill>
              <a:srgbClr val="2260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46320" y="1920240"/>
            <a:ext cx="4069080" cy="274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8600" y="19568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800"/>
          </a:p>
        </p:txBody>
      </p:sp>
      <p:sp>
        <p:nvSpPr>
          <p:cNvPr id="30" name="Text 28"/>
          <p:cNvSpPr/>
          <p:nvPr/>
        </p:nvSpPr>
        <p:spPr>
          <a:xfrm>
            <a:off x="1691640" y="19568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</a:t>
            </a:r>
            <a:endParaRPr lang="en-US" sz="800"/>
          </a:p>
        </p:txBody>
      </p:sp>
      <p:sp>
        <p:nvSpPr>
          <p:cNvPr id="31" name="Text 29"/>
          <p:cNvSpPr/>
          <p:nvPr/>
        </p:nvSpPr>
        <p:spPr>
          <a:xfrm>
            <a:off x="2788920" y="19568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90 Percentile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886200" y="1956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4846320" y="19568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</a:t>
            </a:r>
            <a:endParaRPr lang="en-US" sz="800"/>
          </a:p>
        </p:txBody>
      </p:sp>
      <p:sp>
        <p:nvSpPr>
          <p:cNvPr id="34" name="Text 32"/>
          <p:cNvSpPr/>
          <p:nvPr/>
        </p:nvSpPr>
        <p:spPr>
          <a:xfrm>
            <a:off x="5943600" y="19568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90 Percentile</a:t>
            </a:r>
            <a:endParaRPr lang="en-US" sz="800"/>
          </a:p>
        </p:txBody>
      </p:sp>
      <p:sp>
        <p:nvSpPr>
          <p:cNvPr id="35" name="Text 33"/>
          <p:cNvSpPr/>
          <p:nvPr/>
        </p:nvSpPr>
        <p:spPr>
          <a:xfrm>
            <a:off x="7040880" y="1956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/>
          </a:p>
        </p:txBody>
      </p:sp>
      <p:sp>
        <p:nvSpPr>
          <p:cNvPr id="36" name="Text 34"/>
          <p:cNvSpPr/>
          <p:nvPr/>
        </p:nvSpPr>
        <p:spPr>
          <a:xfrm>
            <a:off x="8092440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Met?</a:t>
            </a:r>
            <a:endParaRPr lang="en-US" sz="800"/>
          </a:p>
        </p:txBody>
      </p:sp>
      <p:sp>
        <p:nvSpPr>
          <p:cNvPr id="37" name="Shape 35"/>
          <p:cNvSpPr/>
          <p:nvPr/>
        </p:nvSpPr>
        <p:spPr>
          <a:xfrm>
            <a:off x="228600" y="2194560"/>
            <a:ext cx="8686800" cy="194767"/>
          </a:xfrm>
          <a:prstGeom prst="rect">
            <a:avLst/>
          </a:prstGeom>
          <a:solidFill>
            <a:srgbClr val="F1F5FB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2221992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— Login</a:t>
            </a:r>
            <a:endParaRPr lang="en-US" sz="850"/>
          </a:p>
        </p:txBody>
      </p:sp>
      <p:sp>
        <p:nvSpPr>
          <p:cNvPr id="39" name="Text 37"/>
          <p:cNvSpPr/>
          <p:nvPr/>
        </p:nvSpPr>
        <p:spPr>
          <a:xfrm>
            <a:off x="1691640" y="222199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0.680s</a:t>
            </a:r>
            <a:endParaRPr lang="en-US" sz="850"/>
          </a:p>
        </p:txBody>
      </p:sp>
      <p:sp>
        <p:nvSpPr>
          <p:cNvPr id="40" name="Text 38"/>
          <p:cNvSpPr/>
          <p:nvPr/>
        </p:nvSpPr>
        <p:spPr>
          <a:xfrm>
            <a:off x="2788920" y="222199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0.705s</a:t>
            </a:r>
            <a:endParaRPr lang="en-US" sz="850"/>
          </a:p>
        </p:txBody>
      </p:sp>
      <p:sp>
        <p:nvSpPr>
          <p:cNvPr id="41" name="Text 39"/>
          <p:cNvSpPr/>
          <p:nvPr/>
        </p:nvSpPr>
        <p:spPr>
          <a:xfrm>
            <a:off x="3886200" y="2221992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42" name="Text 40"/>
          <p:cNvSpPr/>
          <p:nvPr/>
        </p:nvSpPr>
        <p:spPr>
          <a:xfrm>
            <a:off x="4846320" y="222199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0.578</a:t>
            </a:r>
            <a:endParaRPr lang="en-US" sz="750"/>
          </a:p>
        </p:txBody>
      </p:sp>
      <p:sp>
        <p:nvSpPr>
          <p:cNvPr id="43" name="Text 41"/>
          <p:cNvSpPr/>
          <p:nvPr/>
        </p:nvSpPr>
        <p:spPr>
          <a:xfrm>
            <a:off x="5943600" y="222199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0.713</a:t>
            </a:r>
          </a:p>
        </p:txBody>
      </p:sp>
      <p:sp>
        <p:nvSpPr>
          <p:cNvPr id="44" name="Text 42"/>
          <p:cNvSpPr/>
          <p:nvPr/>
        </p:nvSpPr>
        <p:spPr>
          <a:xfrm>
            <a:off x="7040880" y="2221992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Pass</a:t>
            </a:r>
          </a:p>
        </p:txBody>
      </p:sp>
      <p:sp>
        <p:nvSpPr>
          <p:cNvPr id="45" name="Text 43"/>
          <p:cNvSpPr/>
          <p:nvPr/>
        </p:nvSpPr>
        <p:spPr>
          <a:xfrm>
            <a:off x="8092440" y="2221992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Met</a:t>
            </a:r>
          </a:p>
        </p:txBody>
      </p:sp>
      <p:sp>
        <p:nvSpPr>
          <p:cNvPr id="46" name="Shape 44"/>
          <p:cNvSpPr/>
          <p:nvPr/>
        </p:nvSpPr>
        <p:spPr>
          <a:xfrm>
            <a:off x="228600" y="2389327"/>
            <a:ext cx="8686800" cy="194767"/>
          </a:xfrm>
          <a:prstGeom prst="rect">
            <a:avLst/>
          </a:prstGeom>
          <a:solidFill>
            <a:srgbClr val="F1F5FB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4320" y="2416759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— Homepage</a:t>
            </a:r>
            <a:endParaRPr lang="en-US" sz="850"/>
          </a:p>
        </p:txBody>
      </p:sp>
      <p:sp>
        <p:nvSpPr>
          <p:cNvPr id="48" name="Text 46"/>
          <p:cNvSpPr/>
          <p:nvPr/>
        </p:nvSpPr>
        <p:spPr>
          <a:xfrm>
            <a:off x="1691640" y="2416759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0.588s</a:t>
            </a:r>
            <a:endParaRPr lang="en-US" sz="850"/>
          </a:p>
        </p:txBody>
      </p:sp>
      <p:sp>
        <p:nvSpPr>
          <p:cNvPr id="49" name="Text 47"/>
          <p:cNvSpPr/>
          <p:nvPr/>
        </p:nvSpPr>
        <p:spPr>
          <a:xfrm>
            <a:off x="2788920" y="2416759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0.684s</a:t>
            </a:r>
            <a:endParaRPr lang="en-US" sz="850"/>
          </a:p>
        </p:txBody>
      </p:sp>
      <p:sp>
        <p:nvSpPr>
          <p:cNvPr id="50" name="Text 48"/>
          <p:cNvSpPr/>
          <p:nvPr/>
        </p:nvSpPr>
        <p:spPr>
          <a:xfrm>
            <a:off x="3886200" y="2416759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51" name="Text 49"/>
          <p:cNvSpPr/>
          <p:nvPr/>
        </p:nvSpPr>
        <p:spPr>
          <a:xfrm>
            <a:off x="4846320" y="2416759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0.584</a:t>
            </a:r>
          </a:p>
        </p:txBody>
      </p:sp>
      <p:sp>
        <p:nvSpPr>
          <p:cNvPr id="52" name="Text 50"/>
          <p:cNvSpPr/>
          <p:nvPr/>
        </p:nvSpPr>
        <p:spPr>
          <a:xfrm>
            <a:off x="5943600" y="2416759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0.746</a:t>
            </a:r>
          </a:p>
        </p:txBody>
      </p:sp>
      <p:sp>
        <p:nvSpPr>
          <p:cNvPr id="53" name="Text 51"/>
          <p:cNvSpPr/>
          <p:nvPr/>
        </p:nvSpPr>
        <p:spPr>
          <a:xfrm>
            <a:off x="7040880" y="2416759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Pass</a:t>
            </a:r>
          </a:p>
        </p:txBody>
      </p:sp>
      <p:sp>
        <p:nvSpPr>
          <p:cNvPr id="54" name="Text 52"/>
          <p:cNvSpPr/>
          <p:nvPr/>
        </p:nvSpPr>
        <p:spPr>
          <a:xfrm>
            <a:off x="8092440" y="2416759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Met</a:t>
            </a:r>
          </a:p>
        </p:txBody>
      </p:sp>
      <p:sp>
        <p:nvSpPr>
          <p:cNvPr id="55" name="Shape 53"/>
          <p:cNvSpPr/>
          <p:nvPr/>
        </p:nvSpPr>
        <p:spPr>
          <a:xfrm>
            <a:off x="228600" y="2584094"/>
            <a:ext cx="8686800" cy="194767"/>
          </a:xfrm>
          <a:prstGeom prst="rect">
            <a:avLst/>
          </a:prstGeom>
          <a:solidFill>
            <a:srgbClr val="F1F5FB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4320" y="2611526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— Search</a:t>
            </a:r>
            <a:endParaRPr lang="en-US" sz="850"/>
          </a:p>
        </p:txBody>
      </p:sp>
      <p:sp>
        <p:nvSpPr>
          <p:cNvPr id="57" name="Text 55"/>
          <p:cNvSpPr/>
          <p:nvPr/>
        </p:nvSpPr>
        <p:spPr>
          <a:xfrm>
            <a:off x="1691640" y="2611526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0.243s</a:t>
            </a:r>
            <a:endParaRPr lang="en-US" sz="850"/>
          </a:p>
        </p:txBody>
      </p:sp>
      <p:sp>
        <p:nvSpPr>
          <p:cNvPr id="58" name="Text 56"/>
          <p:cNvSpPr/>
          <p:nvPr/>
        </p:nvSpPr>
        <p:spPr>
          <a:xfrm>
            <a:off x="2788920" y="2611526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0.276s</a:t>
            </a:r>
            <a:endParaRPr lang="en-US" sz="850"/>
          </a:p>
        </p:txBody>
      </p:sp>
      <p:sp>
        <p:nvSpPr>
          <p:cNvPr id="59" name="Text 57"/>
          <p:cNvSpPr/>
          <p:nvPr/>
        </p:nvSpPr>
        <p:spPr>
          <a:xfrm>
            <a:off x="3886200" y="2611526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60" name="Text 58"/>
          <p:cNvSpPr/>
          <p:nvPr/>
        </p:nvSpPr>
        <p:spPr>
          <a:xfrm>
            <a:off x="4846320" y="2611526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0.240</a:t>
            </a:r>
          </a:p>
        </p:txBody>
      </p:sp>
      <p:sp>
        <p:nvSpPr>
          <p:cNvPr id="61" name="Text 59"/>
          <p:cNvSpPr/>
          <p:nvPr/>
        </p:nvSpPr>
        <p:spPr>
          <a:xfrm>
            <a:off x="5943600" y="2611526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0.305</a:t>
            </a:r>
          </a:p>
        </p:txBody>
      </p:sp>
      <p:sp>
        <p:nvSpPr>
          <p:cNvPr id="62" name="Text 60"/>
          <p:cNvSpPr/>
          <p:nvPr/>
        </p:nvSpPr>
        <p:spPr>
          <a:xfrm>
            <a:off x="7040880" y="2611526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latin typeface="Calibri"/>
                <a:ea typeface="Calibri"/>
                <a:cs typeface="Calibri"/>
              </a:rPr>
              <a:t>Pass</a:t>
            </a:r>
            <a:endParaRPr lang="en-US" sz="750"/>
          </a:p>
        </p:txBody>
      </p:sp>
      <p:sp>
        <p:nvSpPr>
          <p:cNvPr id="63" name="Text 61"/>
          <p:cNvSpPr/>
          <p:nvPr/>
        </p:nvSpPr>
        <p:spPr>
          <a:xfrm>
            <a:off x="8092440" y="2611526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latin typeface="Calibri"/>
                <a:ea typeface="Calibri"/>
                <a:cs typeface="Calibri"/>
              </a:rPr>
              <a:t>Met</a:t>
            </a:r>
            <a:endParaRPr lang="en-US" sz="750"/>
          </a:p>
        </p:txBody>
      </p:sp>
      <p:sp>
        <p:nvSpPr>
          <p:cNvPr id="64" name="Shape 62"/>
          <p:cNvSpPr/>
          <p:nvPr/>
        </p:nvSpPr>
        <p:spPr>
          <a:xfrm>
            <a:off x="228600" y="2778862"/>
            <a:ext cx="8686800" cy="194767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74320" y="2806294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Page</a:t>
            </a:r>
            <a:endParaRPr lang="en-US" sz="850"/>
          </a:p>
        </p:txBody>
      </p:sp>
      <p:sp>
        <p:nvSpPr>
          <p:cNvPr id="66" name="Text 64"/>
          <p:cNvSpPr/>
          <p:nvPr/>
        </p:nvSpPr>
        <p:spPr>
          <a:xfrm>
            <a:off x="1691640" y="280629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23.458s</a:t>
            </a:r>
            <a:endParaRPr lang="en-US" sz="850"/>
          </a:p>
        </p:txBody>
      </p:sp>
      <p:sp>
        <p:nvSpPr>
          <p:cNvPr id="67" name="Text 65"/>
          <p:cNvSpPr/>
          <p:nvPr/>
        </p:nvSpPr>
        <p:spPr>
          <a:xfrm>
            <a:off x="2788920" y="280629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32.478s</a:t>
            </a:r>
            <a:endParaRPr lang="en-US" sz="850"/>
          </a:p>
        </p:txBody>
      </p:sp>
      <p:sp>
        <p:nvSpPr>
          <p:cNvPr id="68" name="Text 66"/>
          <p:cNvSpPr/>
          <p:nvPr/>
        </p:nvSpPr>
        <p:spPr>
          <a:xfrm>
            <a:off x="3886200" y="2806294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50"/>
          </a:p>
        </p:txBody>
      </p:sp>
      <p:sp>
        <p:nvSpPr>
          <p:cNvPr id="69" name="Text 67"/>
          <p:cNvSpPr/>
          <p:nvPr/>
        </p:nvSpPr>
        <p:spPr>
          <a:xfrm>
            <a:off x="4846320" y="280629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5.679</a:t>
            </a:r>
          </a:p>
        </p:txBody>
      </p:sp>
      <p:sp>
        <p:nvSpPr>
          <p:cNvPr id="70" name="Text 68"/>
          <p:cNvSpPr/>
          <p:nvPr/>
        </p:nvSpPr>
        <p:spPr>
          <a:xfrm>
            <a:off x="5943600" y="280629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7.220</a:t>
            </a:r>
          </a:p>
        </p:txBody>
      </p:sp>
      <p:sp>
        <p:nvSpPr>
          <p:cNvPr id="71" name="Text 69"/>
          <p:cNvSpPr/>
          <p:nvPr/>
        </p:nvSpPr>
        <p:spPr>
          <a:xfrm>
            <a:off x="7040880" y="2806294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Failed</a:t>
            </a:r>
          </a:p>
        </p:txBody>
      </p:sp>
      <p:sp>
        <p:nvSpPr>
          <p:cNvPr id="72" name="Text 70"/>
          <p:cNvSpPr/>
          <p:nvPr/>
        </p:nvSpPr>
        <p:spPr>
          <a:xfrm>
            <a:off x="8092440" y="2806294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Not Met</a:t>
            </a:r>
          </a:p>
        </p:txBody>
      </p:sp>
      <p:sp>
        <p:nvSpPr>
          <p:cNvPr id="73" name="Shape 71"/>
          <p:cNvSpPr/>
          <p:nvPr/>
        </p:nvSpPr>
        <p:spPr>
          <a:xfrm>
            <a:off x="228600" y="2973629"/>
            <a:ext cx="8686800" cy="194767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74320" y="3001061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360 — Login</a:t>
            </a:r>
            <a:endParaRPr lang="en-US" sz="850"/>
          </a:p>
        </p:txBody>
      </p:sp>
      <p:sp>
        <p:nvSpPr>
          <p:cNvPr id="75" name="Text 73"/>
          <p:cNvSpPr/>
          <p:nvPr/>
        </p:nvSpPr>
        <p:spPr>
          <a:xfrm>
            <a:off x="1691640" y="300106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0.680s</a:t>
            </a:r>
            <a:endParaRPr lang="en-US" sz="850"/>
          </a:p>
        </p:txBody>
      </p:sp>
      <p:sp>
        <p:nvSpPr>
          <p:cNvPr id="76" name="Text 74"/>
          <p:cNvSpPr/>
          <p:nvPr/>
        </p:nvSpPr>
        <p:spPr>
          <a:xfrm>
            <a:off x="2788920" y="300106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0.705s</a:t>
            </a:r>
            <a:endParaRPr lang="en-US" sz="850"/>
          </a:p>
        </p:txBody>
      </p:sp>
      <p:sp>
        <p:nvSpPr>
          <p:cNvPr id="77" name="Text 75"/>
          <p:cNvSpPr/>
          <p:nvPr/>
        </p:nvSpPr>
        <p:spPr>
          <a:xfrm>
            <a:off x="3886200" y="3001061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78" name="Text 76"/>
          <p:cNvSpPr/>
          <p:nvPr/>
        </p:nvSpPr>
        <p:spPr>
          <a:xfrm>
            <a:off x="4846320" y="300106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0.749</a:t>
            </a:r>
          </a:p>
        </p:txBody>
      </p:sp>
      <p:sp>
        <p:nvSpPr>
          <p:cNvPr id="79" name="Text 77"/>
          <p:cNvSpPr/>
          <p:nvPr/>
        </p:nvSpPr>
        <p:spPr>
          <a:xfrm>
            <a:off x="5943600" y="300106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latin typeface="Calibri"/>
                <a:ea typeface="Calibri"/>
                <a:cs typeface="Calibri"/>
              </a:rPr>
              <a:t>0.750</a:t>
            </a:r>
            <a:endParaRPr lang="en-US" sz="750" i="1">
              <a:solidFill>
                <a:srgbClr val="BDBDBD"/>
              </a:solidFill>
              <a:ea typeface="Calibri"/>
              <a:cs typeface="Calibri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7040880" y="3001061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Pass</a:t>
            </a:r>
          </a:p>
        </p:txBody>
      </p:sp>
      <p:sp>
        <p:nvSpPr>
          <p:cNvPr id="81" name="Text 79"/>
          <p:cNvSpPr/>
          <p:nvPr/>
        </p:nvSpPr>
        <p:spPr>
          <a:xfrm>
            <a:off x="8092440" y="3001061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Met</a:t>
            </a:r>
          </a:p>
        </p:txBody>
      </p:sp>
      <p:sp>
        <p:nvSpPr>
          <p:cNvPr id="82" name="Shape 80"/>
          <p:cNvSpPr/>
          <p:nvPr/>
        </p:nvSpPr>
        <p:spPr>
          <a:xfrm>
            <a:off x="228600" y="3168396"/>
            <a:ext cx="8686800" cy="194767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74320" y="3195828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360 — Homepage</a:t>
            </a:r>
            <a:endParaRPr lang="en-US" sz="850"/>
          </a:p>
        </p:txBody>
      </p:sp>
      <p:sp>
        <p:nvSpPr>
          <p:cNvPr id="84" name="Text 82"/>
          <p:cNvSpPr/>
          <p:nvPr/>
        </p:nvSpPr>
        <p:spPr>
          <a:xfrm>
            <a:off x="1691640" y="3195828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0.588s</a:t>
            </a:r>
            <a:endParaRPr lang="en-US" sz="850"/>
          </a:p>
        </p:txBody>
      </p:sp>
      <p:sp>
        <p:nvSpPr>
          <p:cNvPr id="85" name="Text 83"/>
          <p:cNvSpPr/>
          <p:nvPr/>
        </p:nvSpPr>
        <p:spPr>
          <a:xfrm>
            <a:off x="2788920" y="3195828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0.684s</a:t>
            </a:r>
            <a:endParaRPr lang="en-US" sz="850"/>
          </a:p>
        </p:txBody>
      </p:sp>
      <p:sp>
        <p:nvSpPr>
          <p:cNvPr id="86" name="Text 84"/>
          <p:cNvSpPr/>
          <p:nvPr/>
        </p:nvSpPr>
        <p:spPr>
          <a:xfrm>
            <a:off x="3886200" y="3195828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87" name="Text 85"/>
          <p:cNvSpPr/>
          <p:nvPr/>
        </p:nvSpPr>
        <p:spPr>
          <a:xfrm>
            <a:off x="4846320" y="3195828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0.634</a:t>
            </a:r>
          </a:p>
        </p:txBody>
      </p:sp>
      <p:sp>
        <p:nvSpPr>
          <p:cNvPr id="88" name="Text 86"/>
          <p:cNvSpPr/>
          <p:nvPr/>
        </p:nvSpPr>
        <p:spPr>
          <a:xfrm>
            <a:off x="5943600" y="3195828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0.751</a:t>
            </a:r>
          </a:p>
        </p:txBody>
      </p:sp>
      <p:sp>
        <p:nvSpPr>
          <p:cNvPr id="89" name="Text 87"/>
          <p:cNvSpPr/>
          <p:nvPr/>
        </p:nvSpPr>
        <p:spPr>
          <a:xfrm>
            <a:off x="7040880" y="3195828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Pass</a:t>
            </a:r>
          </a:p>
        </p:txBody>
      </p:sp>
      <p:sp>
        <p:nvSpPr>
          <p:cNvPr id="90" name="Text 88"/>
          <p:cNvSpPr/>
          <p:nvPr/>
        </p:nvSpPr>
        <p:spPr>
          <a:xfrm>
            <a:off x="8092440" y="3195828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Met</a:t>
            </a:r>
          </a:p>
        </p:txBody>
      </p:sp>
      <p:sp>
        <p:nvSpPr>
          <p:cNvPr id="91" name="Shape 89"/>
          <p:cNvSpPr/>
          <p:nvPr/>
        </p:nvSpPr>
        <p:spPr>
          <a:xfrm>
            <a:off x="228600" y="3363163"/>
            <a:ext cx="8686800" cy="194767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274320" y="3390595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360 — Search</a:t>
            </a:r>
            <a:endParaRPr lang="en-US" sz="850"/>
          </a:p>
        </p:txBody>
      </p:sp>
      <p:sp>
        <p:nvSpPr>
          <p:cNvPr id="93" name="Text 91"/>
          <p:cNvSpPr/>
          <p:nvPr/>
        </p:nvSpPr>
        <p:spPr>
          <a:xfrm>
            <a:off x="1691640" y="3390595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0.255s</a:t>
            </a:r>
            <a:endParaRPr lang="en-US" sz="850"/>
          </a:p>
        </p:txBody>
      </p:sp>
      <p:sp>
        <p:nvSpPr>
          <p:cNvPr id="94" name="Text 92"/>
          <p:cNvSpPr/>
          <p:nvPr/>
        </p:nvSpPr>
        <p:spPr>
          <a:xfrm>
            <a:off x="2788920" y="3390595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0.298s</a:t>
            </a:r>
            <a:endParaRPr lang="en-US" sz="850"/>
          </a:p>
        </p:txBody>
      </p:sp>
      <p:sp>
        <p:nvSpPr>
          <p:cNvPr id="95" name="Text 93"/>
          <p:cNvSpPr/>
          <p:nvPr/>
        </p:nvSpPr>
        <p:spPr>
          <a:xfrm>
            <a:off x="3886200" y="3390595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96" name="Text 94"/>
          <p:cNvSpPr/>
          <p:nvPr/>
        </p:nvSpPr>
        <p:spPr>
          <a:xfrm>
            <a:off x="4846320" y="3390595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0.246</a:t>
            </a:r>
          </a:p>
        </p:txBody>
      </p:sp>
      <p:sp>
        <p:nvSpPr>
          <p:cNvPr id="97" name="Text 95"/>
          <p:cNvSpPr/>
          <p:nvPr/>
        </p:nvSpPr>
        <p:spPr>
          <a:xfrm>
            <a:off x="5943600" y="3390595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0.315</a:t>
            </a:r>
          </a:p>
        </p:txBody>
      </p:sp>
      <p:sp>
        <p:nvSpPr>
          <p:cNvPr id="98" name="Text 96"/>
          <p:cNvSpPr/>
          <p:nvPr/>
        </p:nvSpPr>
        <p:spPr>
          <a:xfrm>
            <a:off x="7040880" y="3390595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Pass</a:t>
            </a:r>
          </a:p>
        </p:txBody>
      </p:sp>
      <p:sp>
        <p:nvSpPr>
          <p:cNvPr id="99" name="Text 97"/>
          <p:cNvSpPr/>
          <p:nvPr/>
        </p:nvSpPr>
        <p:spPr>
          <a:xfrm>
            <a:off x="8092440" y="3390595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Met</a:t>
            </a:r>
          </a:p>
        </p:txBody>
      </p:sp>
      <p:sp>
        <p:nvSpPr>
          <p:cNvPr id="100" name="Shape 98"/>
          <p:cNvSpPr/>
          <p:nvPr/>
        </p:nvSpPr>
        <p:spPr>
          <a:xfrm>
            <a:off x="228600" y="3557930"/>
            <a:ext cx="8686800" cy="194767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274320" y="3585362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360 Page</a:t>
            </a:r>
            <a:endParaRPr lang="en-US" sz="850"/>
          </a:p>
        </p:txBody>
      </p:sp>
      <p:sp>
        <p:nvSpPr>
          <p:cNvPr id="102" name="Text 100"/>
          <p:cNvSpPr/>
          <p:nvPr/>
        </p:nvSpPr>
        <p:spPr>
          <a:xfrm>
            <a:off x="1691640" y="358536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22.880s</a:t>
            </a:r>
            <a:endParaRPr lang="en-US" sz="850"/>
          </a:p>
        </p:txBody>
      </p:sp>
      <p:sp>
        <p:nvSpPr>
          <p:cNvPr id="103" name="Text 101"/>
          <p:cNvSpPr/>
          <p:nvPr/>
        </p:nvSpPr>
        <p:spPr>
          <a:xfrm>
            <a:off x="2788920" y="358536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48.493s</a:t>
            </a:r>
            <a:endParaRPr lang="en-US" sz="850"/>
          </a:p>
        </p:txBody>
      </p:sp>
      <p:sp>
        <p:nvSpPr>
          <p:cNvPr id="104" name="Text 102"/>
          <p:cNvSpPr/>
          <p:nvPr/>
        </p:nvSpPr>
        <p:spPr>
          <a:xfrm>
            <a:off x="3886200" y="3585362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50"/>
          </a:p>
        </p:txBody>
      </p:sp>
      <p:sp>
        <p:nvSpPr>
          <p:cNvPr id="105" name="Text 103"/>
          <p:cNvSpPr/>
          <p:nvPr/>
        </p:nvSpPr>
        <p:spPr>
          <a:xfrm>
            <a:off x="4846320" y="358536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1.983</a:t>
            </a:r>
          </a:p>
        </p:txBody>
      </p:sp>
      <p:sp>
        <p:nvSpPr>
          <p:cNvPr id="106" name="Text 104"/>
          <p:cNvSpPr/>
          <p:nvPr/>
        </p:nvSpPr>
        <p:spPr>
          <a:xfrm>
            <a:off x="5943600" y="358536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2.332</a:t>
            </a:r>
          </a:p>
        </p:txBody>
      </p:sp>
      <p:sp>
        <p:nvSpPr>
          <p:cNvPr id="107" name="Text 105"/>
          <p:cNvSpPr/>
          <p:nvPr/>
        </p:nvSpPr>
        <p:spPr>
          <a:xfrm>
            <a:off x="7040880" y="3585362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Pass</a:t>
            </a:r>
          </a:p>
        </p:txBody>
      </p:sp>
      <p:sp>
        <p:nvSpPr>
          <p:cNvPr id="108" name="Text 106"/>
          <p:cNvSpPr/>
          <p:nvPr/>
        </p:nvSpPr>
        <p:spPr>
          <a:xfrm>
            <a:off x="8092440" y="3585362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Met</a:t>
            </a:r>
          </a:p>
        </p:txBody>
      </p:sp>
      <p:sp>
        <p:nvSpPr>
          <p:cNvPr id="109" name="Shape 107"/>
          <p:cNvSpPr/>
          <p:nvPr/>
        </p:nvSpPr>
        <p:spPr>
          <a:xfrm>
            <a:off x="228600" y="3752698"/>
            <a:ext cx="8686800" cy="194767"/>
          </a:xfrm>
          <a:prstGeom prst="rect">
            <a:avLst/>
          </a:prstGeom>
          <a:solidFill>
            <a:srgbClr val="F1F5FB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274320" y="3780130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— Login</a:t>
            </a:r>
            <a:endParaRPr lang="en-US" sz="850"/>
          </a:p>
        </p:txBody>
      </p:sp>
      <p:sp>
        <p:nvSpPr>
          <p:cNvPr id="111" name="Text 109"/>
          <p:cNvSpPr/>
          <p:nvPr/>
        </p:nvSpPr>
        <p:spPr>
          <a:xfrm>
            <a:off x="1691640" y="3780130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0.680s</a:t>
            </a:r>
            <a:endParaRPr lang="en-US" sz="850"/>
          </a:p>
        </p:txBody>
      </p:sp>
      <p:sp>
        <p:nvSpPr>
          <p:cNvPr id="112" name="Text 110"/>
          <p:cNvSpPr/>
          <p:nvPr/>
        </p:nvSpPr>
        <p:spPr>
          <a:xfrm>
            <a:off x="2788920" y="3780130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0.705s</a:t>
            </a:r>
            <a:endParaRPr lang="en-US" sz="850"/>
          </a:p>
        </p:txBody>
      </p:sp>
      <p:sp>
        <p:nvSpPr>
          <p:cNvPr id="113" name="Text 111"/>
          <p:cNvSpPr/>
          <p:nvPr/>
        </p:nvSpPr>
        <p:spPr>
          <a:xfrm>
            <a:off x="3886200" y="3780130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114" name="Text 112"/>
          <p:cNvSpPr/>
          <p:nvPr/>
        </p:nvSpPr>
        <p:spPr>
          <a:xfrm>
            <a:off x="4846320" y="3780130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0.591</a:t>
            </a:r>
            <a:endParaRPr lang="en-US" sz="750" i="1" dirty="0">
              <a:solidFill>
                <a:srgbClr val="BDBDBD"/>
              </a:solidFill>
              <a:ea typeface="Calibri"/>
              <a:cs typeface="Calibri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5943600" y="3780130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0.701</a:t>
            </a:r>
            <a:endParaRPr lang="en-US" sz="750" i="1" dirty="0">
              <a:solidFill>
                <a:srgbClr val="BDBDBD"/>
              </a:solidFill>
              <a:ea typeface="Calibri"/>
              <a:cs typeface="Calibri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7040880" y="3780130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Pass</a:t>
            </a:r>
            <a:endParaRPr lang="en-US" sz="750" i="1" dirty="0">
              <a:solidFill>
                <a:srgbClr val="BDBDBD"/>
              </a:solidFill>
              <a:ea typeface="Calibri"/>
              <a:cs typeface="Calibri"/>
            </a:endParaRPr>
          </a:p>
        </p:txBody>
      </p:sp>
      <p:sp>
        <p:nvSpPr>
          <p:cNvPr id="117" name="Text 115"/>
          <p:cNvSpPr/>
          <p:nvPr/>
        </p:nvSpPr>
        <p:spPr>
          <a:xfrm>
            <a:off x="8092440" y="3780130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Met</a:t>
            </a:r>
            <a:endParaRPr lang="en-US" sz="750" i="1" dirty="0">
              <a:solidFill>
                <a:srgbClr val="BDBDBD"/>
              </a:solidFill>
              <a:ea typeface="Calibri"/>
              <a:cs typeface="Calibri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228600" y="3947465"/>
            <a:ext cx="8686800" cy="194767"/>
          </a:xfrm>
          <a:prstGeom prst="rect">
            <a:avLst/>
          </a:prstGeom>
          <a:solidFill>
            <a:srgbClr val="F1F5FB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274320" y="3974897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— Homepage</a:t>
            </a:r>
            <a:endParaRPr lang="en-US" sz="850"/>
          </a:p>
        </p:txBody>
      </p:sp>
      <p:sp>
        <p:nvSpPr>
          <p:cNvPr id="120" name="Text 118"/>
          <p:cNvSpPr/>
          <p:nvPr/>
        </p:nvSpPr>
        <p:spPr>
          <a:xfrm>
            <a:off x="1691640" y="3974897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0.588s</a:t>
            </a:r>
            <a:endParaRPr lang="en-US" sz="850"/>
          </a:p>
        </p:txBody>
      </p:sp>
      <p:sp>
        <p:nvSpPr>
          <p:cNvPr id="121" name="Text 119"/>
          <p:cNvSpPr/>
          <p:nvPr/>
        </p:nvSpPr>
        <p:spPr>
          <a:xfrm>
            <a:off x="2788920" y="3974897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0.684s</a:t>
            </a:r>
            <a:endParaRPr lang="en-US" sz="850"/>
          </a:p>
        </p:txBody>
      </p:sp>
      <p:sp>
        <p:nvSpPr>
          <p:cNvPr id="122" name="Text 120"/>
          <p:cNvSpPr/>
          <p:nvPr/>
        </p:nvSpPr>
        <p:spPr>
          <a:xfrm>
            <a:off x="3886200" y="3974897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123" name="Text 121"/>
          <p:cNvSpPr/>
          <p:nvPr/>
        </p:nvSpPr>
        <p:spPr>
          <a:xfrm>
            <a:off x="4846320" y="3974897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0.571</a:t>
            </a:r>
            <a:endParaRPr lang="en-US" sz="750" i="1" dirty="0">
              <a:solidFill>
                <a:srgbClr val="BDBDBD"/>
              </a:solidFill>
              <a:ea typeface="Calibri"/>
              <a:cs typeface="Calibri"/>
            </a:endParaRPr>
          </a:p>
        </p:txBody>
      </p:sp>
      <p:sp>
        <p:nvSpPr>
          <p:cNvPr id="124" name="Text 122"/>
          <p:cNvSpPr/>
          <p:nvPr/>
        </p:nvSpPr>
        <p:spPr>
          <a:xfrm>
            <a:off x="5943600" y="3974897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0.712</a:t>
            </a:r>
            <a:endParaRPr lang="en-US" sz="750" i="1" dirty="0">
              <a:solidFill>
                <a:srgbClr val="BDBDBD"/>
              </a:solidFill>
              <a:ea typeface="Calibri"/>
              <a:cs typeface="Calibri"/>
            </a:endParaRPr>
          </a:p>
        </p:txBody>
      </p:sp>
      <p:sp>
        <p:nvSpPr>
          <p:cNvPr id="125" name="Text 123"/>
          <p:cNvSpPr/>
          <p:nvPr/>
        </p:nvSpPr>
        <p:spPr>
          <a:xfrm>
            <a:off x="7040880" y="3974897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latin typeface="Calibri"/>
                <a:ea typeface="Calibri"/>
                <a:cs typeface="Calibri"/>
              </a:rPr>
              <a:t>Pass</a:t>
            </a:r>
            <a:endParaRPr lang="en-US" sz="750" i="1">
              <a:solidFill>
                <a:srgbClr val="BDBDBD"/>
              </a:solidFill>
              <a:ea typeface="Calibri"/>
              <a:cs typeface="Calibri"/>
            </a:endParaRPr>
          </a:p>
        </p:txBody>
      </p:sp>
      <p:sp>
        <p:nvSpPr>
          <p:cNvPr id="126" name="Text 124"/>
          <p:cNvSpPr/>
          <p:nvPr/>
        </p:nvSpPr>
        <p:spPr>
          <a:xfrm>
            <a:off x="8092440" y="3974897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Met</a:t>
            </a:r>
            <a:endParaRPr lang="en-US" sz="750" i="1" dirty="0">
              <a:solidFill>
                <a:srgbClr val="BDBDBD"/>
              </a:solidFill>
              <a:ea typeface="Calibri"/>
              <a:cs typeface="Calibri"/>
            </a:endParaRPr>
          </a:p>
        </p:txBody>
      </p:sp>
      <p:sp>
        <p:nvSpPr>
          <p:cNvPr id="127" name="Shape 125"/>
          <p:cNvSpPr/>
          <p:nvPr/>
        </p:nvSpPr>
        <p:spPr>
          <a:xfrm>
            <a:off x="228600" y="4142232"/>
            <a:ext cx="8686800" cy="194767"/>
          </a:xfrm>
          <a:prstGeom prst="rect">
            <a:avLst/>
          </a:prstGeom>
          <a:solidFill>
            <a:srgbClr val="F1F5FB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274320" y="4169664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— Search</a:t>
            </a:r>
            <a:endParaRPr lang="en-US" sz="850"/>
          </a:p>
        </p:txBody>
      </p:sp>
      <p:sp>
        <p:nvSpPr>
          <p:cNvPr id="129" name="Text 127"/>
          <p:cNvSpPr/>
          <p:nvPr/>
        </p:nvSpPr>
        <p:spPr>
          <a:xfrm>
            <a:off x="1691640" y="416966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0.164s</a:t>
            </a:r>
            <a:endParaRPr lang="en-US" sz="850"/>
          </a:p>
        </p:txBody>
      </p:sp>
      <p:sp>
        <p:nvSpPr>
          <p:cNvPr id="130" name="Text 128"/>
          <p:cNvSpPr/>
          <p:nvPr/>
        </p:nvSpPr>
        <p:spPr>
          <a:xfrm>
            <a:off x="2788920" y="416966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0.196s</a:t>
            </a:r>
            <a:endParaRPr lang="en-US" sz="850"/>
          </a:p>
        </p:txBody>
      </p:sp>
      <p:sp>
        <p:nvSpPr>
          <p:cNvPr id="131" name="Text 129"/>
          <p:cNvSpPr/>
          <p:nvPr/>
        </p:nvSpPr>
        <p:spPr>
          <a:xfrm>
            <a:off x="3886200" y="4169664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132" name="Text 130"/>
          <p:cNvSpPr/>
          <p:nvPr/>
        </p:nvSpPr>
        <p:spPr>
          <a:xfrm>
            <a:off x="4846320" y="416966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latin typeface="Calibri"/>
                <a:ea typeface="Calibri"/>
                <a:cs typeface="Calibri"/>
              </a:rPr>
              <a:t>0.164</a:t>
            </a:r>
            <a:endParaRPr lang="en-US" sz="750" i="1">
              <a:solidFill>
                <a:srgbClr val="BDBDBD"/>
              </a:solidFill>
              <a:ea typeface="Calibri"/>
              <a:cs typeface="Calibri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5943600" y="416966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0.212</a:t>
            </a:r>
            <a:endParaRPr lang="en-US" sz="750" i="1" dirty="0">
              <a:solidFill>
                <a:srgbClr val="BDBDBD"/>
              </a:solidFill>
              <a:ea typeface="Calibri"/>
              <a:cs typeface="Calibri"/>
            </a:endParaRPr>
          </a:p>
        </p:txBody>
      </p:sp>
      <p:sp>
        <p:nvSpPr>
          <p:cNvPr id="134" name="Text 132"/>
          <p:cNvSpPr/>
          <p:nvPr/>
        </p:nvSpPr>
        <p:spPr>
          <a:xfrm>
            <a:off x="7040880" y="4169664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Pass</a:t>
            </a:r>
            <a:endParaRPr lang="en-US" sz="750" i="1" dirty="0">
              <a:solidFill>
                <a:srgbClr val="BDBDBD"/>
              </a:solidFill>
              <a:ea typeface="Calibri"/>
              <a:cs typeface="Calibri"/>
            </a:endParaRPr>
          </a:p>
        </p:txBody>
      </p:sp>
      <p:sp>
        <p:nvSpPr>
          <p:cNvPr id="135" name="Text 133"/>
          <p:cNvSpPr/>
          <p:nvPr/>
        </p:nvSpPr>
        <p:spPr>
          <a:xfrm>
            <a:off x="8092440" y="4169664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Met</a:t>
            </a:r>
            <a:endParaRPr lang="en-US" sz="750" i="1" dirty="0">
              <a:solidFill>
                <a:srgbClr val="BDBDBD"/>
              </a:solidFill>
              <a:ea typeface="Calibri"/>
              <a:cs typeface="Calibri"/>
            </a:endParaRPr>
          </a:p>
        </p:txBody>
      </p:sp>
      <p:sp>
        <p:nvSpPr>
          <p:cNvPr id="136" name="Shape 134"/>
          <p:cNvSpPr/>
          <p:nvPr/>
        </p:nvSpPr>
        <p:spPr>
          <a:xfrm>
            <a:off x="228600" y="4336999"/>
            <a:ext cx="8686800" cy="194767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274320" y="4364431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Page</a:t>
            </a:r>
            <a:endParaRPr lang="en-US" sz="850"/>
          </a:p>
        </p:txBody>
      </p:sp>
      <p:sp>
        <p:nvSpPr>
          <p:cNvPr id="138" name="Text 136"/>
          <p:cNvSpPr/>
          <p:nvPr/>
        </p:nvSpPr>
        <p:spPr>
          <a:xfrm>
            <a:off x="1691640" y="436443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14.130s</a:t>
            </a:r>
            <a:endParaRPr lang="en-US" sz="850"/>
          </a:p>
        </p:txBody>
      </p:sp>
      <p:sp>
        <p:nvSpPr>
          <p:cNvPr id="139" name="Text 137"/>
          <p:cNvSpPr/>
          <p:nvPr/>
        </p:nvSpPr>
        <p:spPr>
          <a:xfrm>
            <a:off x="2788920" y="436443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27.719s</a:t>
            </a:r>
            <a:endParaRPr lang="en-US" sz="850"/>
          </a:p>
        </p:txBody>
      </p:sp>
      <p:sp>
        <p:nvSpPr>
          <p:cNvPr id="140" name="Text 138"/>
          <p:cNvSpPr/>
          <p:nvPr/>
        </p:nvSpPr>
        <p:spPr>
          <a:xfrm>
            <a:off x="3886200" y="4364431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50"/>
          </a:p>
        </p:txBody>
      </p:sp>
      <p:sp>
        <p:nvSpPr>
          <p:cNvPr id="141" name="Text 139"/>
          <p:cNvSpPr/>
          <p:nvPr/>
        </p:nvSpPr>
        <p:spPr>
          <a:xfrm>
            <a:off x="4846320" y="436443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2.777</a:t>
            </a:r>
            <a:endParaRPr lang="en-US" sz="750" i="1" dirty="0">
              <a:solidFill>
                <a:srgbClr val="BDBDBD"/>
              </a:solidFill>
              <a:ea typeface="Calibri"/>
              <a:cs typeface="Calibri"/>
            </a:endParaRPr>
          </a:p>
        </p:txBody>
      </p:sp>
      <p:sp>
        <p:nvSpPr>
          <p:cNvPr id="142" name="Text 140"/>
          <p:cNvSpPr/>
          <p:nvPr/>
        </p:nvSpPr>
        <p:spPr>
          <a:xfrm>
            <a:off x="5943600" y="436443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4.230</a:t>
            </a:r>
            <a:endParaRPr lang="en-US" sz="750" i="1" dirty="0">
              <a:solidFill>
                <a:srgbClr val="BDBDBD"/>
              </a:solidFill>
              <a:ea typeface="Calibri"/>
              <a:cs typeface="Calibri"/>
            </a:endParaRPr>
          </a:p>
        </p:txBody>
      </p:sp>
      <p:sp>
        <p:nvSpPr>
          <p:cNvPr id="143" name="Text 141"/>
          <p:cNvSpPr/>
          <p:nvPr/>
        </p:nvSpPr>
        <p:spPr>
          <a:xfrm>
            <a:off x="7040880" y="4364431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Pass</a:t>
            </a:r>
            <a:endParaRPr lang="en-US" sz="750" i="1" dirty="0">
              <a:solidFill>
                <a:srgbClr val="BDBDBD"/>
              </a:solidFill>
              <a:ea typeface="Calibri"/>
              <a:cs typeface="Calibri"/>
            </a:endParaRPr>
          </a:p>
        </p:txBody>
      </p:sp>
      <p:sp>
        <p:nvSpPr>
          <p:cNvPr id="144" name="Text 142"/>
          <p:cNvSpPr/>
          <p:nvPr/>
        </p:nvSpPr>
        <p:spPr>
          <a:xfrm>
            <a:off x="8092440" y="4364431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BDBDBD"/>
                </a:solidFill>
                <a:ea typeface="Calibri"/>
                <a:cs typeface="Calibri"/>
              </a:rPr>
              <a:t>Met</a:t>
            </a:r>
            <a:endParaRPr lang="en-US" sz="750" i="1" dirty="0">
              <a:solidFill>
                <a:srgbClr val="BDBDBD"/>
              </a:solidFill>
              <a:ea typeface="Calibri"/>
              <a:cs typeface="Calibri"/>
            </a:endParaRPr>
          </a:p>
        </p:txBody>
      </p:sp>
      <p:sp>
        <p:nvSpPr>
          <p:cNvPr id="145" name="Shape 143"/>
          <p:cNvSpPr/>
          <p:nvPr/>
        </p:nvSpPr>
        <p:spPr>
          <a:xfrm>
            <a:off x="0" y="4690872"/>
            <a:ext cx="9144000" cy="3017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274320" y="4709160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Run: All three 360 pages exceeded the 5s SLA — Defect CRAID-2844 filed. Final run results (Mar 6) to be updated above.</a:t>
            </a:r>
            <a:endParaRPr lang="en-US" sz="950"/>
          </a:p>
        </p:txBody>
      </p:sp>
      <p:sp>
        <p:nvSpPr>
          <p:cNvPr id="147" name="Shape 145"/>
          <p:cNvSpPr/>
          <p:nvPr/>
        </p:nvSpPr>
        <p:spPr>
          <a:xfrm>
            <a:off x="0" y="5001768"/>
            <a:ext cx="9144000" cy="1463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274320" y="5010912"/>
            <a:ext cx="8595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Performance Testing | IR3.1</a:t>
            </a:r>
            <a:endParaRPr lang="en-US" sz="8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021C54-550A-F700-B2D9-F00E0BBB6FB8}"/>
              </a:ext>
            </a:extLst>
          </p:cNvPr>
          <p:cNvSpPr txBox="1"/>
          <p:nvPr/>
        </p:nvSpPr>
        <p:spPr>
          <a:xfrm>
            <a:off x="658231" y="500203"/>
            <a:ext cx="7978466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Breakdown for Account 360 page</a:t>
            </a:r>
          </a:p>
          <a:p>
            <a:r>
              <a:rPr lang="en-US" dirty="0">
                <a:ea typeface="Calibri"/>
                <a:cs typeface="Calibri"/>
              </a:rPr>
              <a:t>700 transactions were executed, API wise 90% responded in less than 4, </a:t>
            </a:r>
            <a:r>
              <a:rPr lang="en-US">
                <a:ea typeface="Calibri"/>
                <a:cs typeface="Calibri"/>
              </a:rPr>
              <a:t>Salesforce UI responded 4 </a:t>
            </a:r>
            <a:r>
              <a:rPr lang="en-US" dirty="0">
                <a:ea typeface="Calibri"/>
                <a:cs typeface="Calibri"/>
              </a:rPr>
              <a:t>to 6 seconds, </a:t>
            </a: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Across the board, the SF takes between 3 to 4 seconds, and API takes another 3 to 5 seconds.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Account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3309</a:t>
            </a: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3202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7CDEF1-B94A-B786-7CA5-980711136C28}"/>
              </a:ext>
            </a:extLst>
          </p:cNvPr>
          <p:cNvSpPr txBox="1"/>
          <p:nvPr/>
        </p:nvSpPr>
        <p:spPr>
          <a:xfrm>
            <a:off x="821531" y="821531"/>
            <a:ext cx="4572000" cy="33701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575"/>
              </a:lnSpc>
            </a:pPr>
            <a:r>
              <a:rPr lang="en-US" sz="1100">
                <a:latin typeface="Calibri"/>
                <a:ea typeface="Segoe UI"/>
                <a:cs typeface="Segoe UI"/>
              </a:rPr>
              <a:t>Next Steps / Actions</a:t>
            </a:r>
            <a:endParaRPr lang="en-US" sz="1100" dirty="0">
              <a:latin typeface="Calibri"/>
              <a:ea typeface="Segoe UI"/>
              <a:cs typeface="Segoe UI"/>
            </a:endParaRPr>
          </a:p>
          <a:p>
            <a:pPr>
              <a:lnSpc>
                <a:spcPts val="1575"/>
              </a:lnSpc>
            </a:pPr>
            <a:endParaRPr lang="en-US" sz="1100" dirty="0">
              <a:latin typeface="Calibri"/>
              <a:ea typeface="Segoe UI"/>
              <a:cs typeface="Segoe UI"/>
            </a:endParaRPr>
          </a:p>
          <a:p>
            <a:pPr>
              <a:lnSpc>
                <a:spcPts val="1575"/>
              </a:lnSpc>
            </a:pPr>
            <a:r>
              <a:rPr lang="en-US" sz="1100" baseline="0" dirty="0">
                <a:latin typeface="Calibri"/>
                <a:ea typeface="Segoe UI"/>
                <a:cs typeface="Segoe UI"/>
              </a:rPr>
              <a:t>Defect CRAID 3309: Current analysis points to Salesforce </a:t>
            </a:r>
            <a:r>
              <a:rPr lang="en-US" sz="1100" baseline="0" dirty="0" err="1">
                <a:latin typeface="Calibri"/>
                <a:ea typeface="Segoe UI"/>
                <a:cs typeface="Segoe UI"/>
              </a:rPr>
              <a:t>Omnistudio</a:t>
            </a:r>
            <a:r>
              <a:rPr lang="en-US" sz="1100" baseline="0" dirty="0">
                <a:latin typeface="Calibri"/>
                <a:ea typeface="Segoe UI"/>
                <a:cs typeface="Segoe UI"/>
              </a:rPr>
              <a:t> framework issues. The foundational components are causing inconsistent rendering speeds independent of recent code builds.</a:t>
            </a:r>
            <a:r>
              <a:rPr lang="en-US" sz="1100" dirty="0">
                <a:latin typeface="Calibri"/>
                <a:ea typeface="Segoe UI"/>
                <a:cs typeface="Segoe UI"/>
              </a:rPr>
              <a:t>​</a:t>
            </a:r>
            <a:br>
              <a:rPr lang="en-US" sz="1100" dirty="0">
                <a:latin typeface="Calibri"/>
                <a:ea typeface="Segoe UI"/>
                <a:cs typeface="Segoe UI"/>
              </a:rPr>
            </a:br>
            <a:r>
              <a:rPr lang="en-US" sz="1100" baseline="0" dirty="0">
                <a:latin typeface="Calibri"/>
                <a:ea typeface="Segoe UI"/>
                <a:cs typeface="Segoe UI"/>
              </a:rPr>
              <a:t>• Action: Initiated a Severity 1 case with Salesforce for immediate architectural support.</a:t>
            </a:r>
            <a:r>
              <a:rPr lang="en-US" sz="1100" dirty="0">
                <a:latin typeface="Calibri"/>
                <a:ea typeface="Segoe UI"/>
                <a:cs typeface="Segoe UI"/>
              </a:rPr>
              <a:t>​</a:t>
            </a:r>
            <a:br>
              <a:rPr lang="en-US" sz="1100" dirty="0">
                <a:latin typeface="Calibri"/>
                <a:ea typeface="Segoe UI"/>
                <a:cs typeface="Segoe UI"/>
              </a:rPr>
            </a:br>
            <a:r>
              <a:rPr lang="en-US" sz="1100" baseline="0" dirty="0">
                <a:latin typeface="Calibri"/>
                <a:ea typeface="Segoe UI"/>
                <a:cs typeface="Segoe UI"/>
              </a:rPr>
              <a:t>Timeline &amp; Next Steps</a:t>
            </a:r>
            <a:r>
              <a:rPr lang="en-US" sz="1100" dirty="0">
                <a:latin typeface="Calibri"/>
                <a:ea typeface="Segoe UI"/>
                <a:cs typeface="Segoe UI"/>
              </a:rPr>
              <a:t>​</a:t>
            </a:r>
            <a:br>
              <a:rPr lang="en-US" sz="1100" dirty="0">
                <a:latin typeface="Calibri"/>
                <a:ea typeface="Segoe UI"/>
                <a:cs typeface="Segoe UI"/>
              </a:rPr>
            </a:br>
            <a:r>
              <a:rPr lang="en-US" sz="1100" baseline="0" dirty="0">
                <a:latin typeface="Calibri"/>
                <a:ea typeface="Segoe UI"/>
                <a:cs typeface="Segoe UI"/>
              </a:rPr>
              <a:t>• Mar 7–10: Deep-dive diagnosis and collaboration with Salesforce Support to optimize </a:t>
            </a:r>
            <a:r>
              <a:rPr lang="en-US" sz="1100" baseline="0" dirty="0" err="1">
                <a:latin typeface="Calibri"/>
                <a:ea typeface="Segoe UI"/>
                <a:cs typeface="Segoe UI"/>
              </a:rPr>
              <a:t>Omnistudio</a:t>
            </a:r>
            <a:r>
              <a:rPr lang="en-US" sz="1100" baseline="0" dirty="0">
                <a:latin typeface="Calibri"/>
                <a:ea typeface="Segoe UI"/>
                <a:cs typeface="Segoe UI"/>
              </a:rPr>
              <a:t> component overhead.</a:t>
            </a:r>
            <a:r>
              <a:rPr lang="en-US" sz="1100" dirty="0">
                <a:latin typeface="Calibri"/>
                <a:ea typeface="Segoe UI"/>
                <a:cs typeface="Segoe UI"/>
              </a:rPr>
              <a:t>​</a:t>
            </a:r>
            <a:br>
              <a:rPr lang="en-US" sz="1100" dirty="0">
                <a:latin typeface="Calibri"/>
                <a:ea typeface="Segoe UI"/>
                <a:cs typeface="Segoe UI"/>
              </a:rPr>
            </a:br>
            <a:r>
              <a:rPr lang="en-US" sz="1100" baseline="0" dirty="0">
                <a:latin typeface="Calibri"/>
                <a:ea typeface="Segoe UI"/>
                <a:cs typeface="Segoe UI"/>
              </a:rPr>
              <a:t>• Mar 11: Completion of fixes, performance re-test, and detailed status update.</a:t>
            </a:r>
            <a:r>
              <a:rPr lang="en-US" sz="1100" dirty="0">
                <a:latin typeface="Calibri"/>
                <a:ea typeface="Segoe UI"/>
                <a:cs typeface="Segoe UI"/>
              </a:rPr>
              <a:t>​</a:t>
            </a:r>
            <a:br>
              <a:rPr lang="en-US" sz="1100" dirty="0">
                <a:latin typeface="Calibri"/>
                <a:ea typeface="Segoe UI"/>
                <a:cs typeface="Segoe UI"/>
              </a:rPr>
            </a:br>
            <a:r>
              <a:rPr lang="en-US" sz="1100" baseline="0" dirty="0">
                <a:latin typeface="Calibri"/>
                <a:ea typeface="Segoe UI"/>
                <a:cs typeface="Segoe UI"/>
              </a:rPr>
              <a:t>• ETA for Resolution: March 11, 2025</a:t>
            </a:r>
            <a:r>
              <a:rPr lang="en-US" sz="1100" dirty="0">
                <a:latin typeface="Calibri"/>
                <a:ea typeface="Segoe UI"/>
                <a:cs typeface="Segoe UI"/>
              </a:rPr>
              <a:t>​</a:t>
            </a:r>
            <a:endParaRPr lang="en-US" dirty="0"/>
          </a:p>
          <a:p>
            <a:pPr rtl="0">
              <a:lnSpc>
                <a:spcPts val="2550"/>
              </a:lnSpc>
            </a:pPr>
            <a:r>
              <a:rPr lang="en-US" sz="1800">
                <a:latin typeface="Calibri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57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7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86</cp:revision>
  <dcterms:created xsi:type="dcterms:W3CDTF">2026-03-06T08:14:28Z</dcterms:created>
  <dcterms:modified xsi:type="dcterms:W3CDTF">2026-03-06T23:49:07Z</dcterms:modified>
</cp:coreProperties>
</file>