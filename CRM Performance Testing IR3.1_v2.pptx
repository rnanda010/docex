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01_0.xml" ContentType="application/vnd.ms-powerpoint.comments+xml"/>
  <Override PartName="/ppt/notesSlides/notesSlide3.xml" ContentType="application/vnd.openxmlformats-officedocument.presentationml.notesSlide+xml"/>
  <Override PartName="/ppt/comments/modernComment_102_0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1" r:id="rId3"/>
    <p:sldId id="260" r:id="rId4"/>
    <p:sldId id="257" r:id="rId5"/>
    <p:sldId id="258" r:id="rId6"/>
    <p:sldId id="259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DCEC304-FD0B-4C3F-2650-F3BF0629C02E}" name="Nanda, Ritesh" initials="NR" userId="S::rxn0oda@fpl.com::61b3d111-9f16-4c73-8fb3-feed79743d95" providerId="AD"/>
  <p188:author id="{22279D7D-FA4C-5000-AFDC-5D4331022214}" name="ritesh nanda" initials="rn" userId="b8c4993432f8e77f" providerId="Windows Live"/>
  <p188:author id="{8141CEF2-94E8-AA16-395D-841A4AFCD734}" name="Polavarapu, Sravya" initials="PS" userId="S::sxp09dc@fpl.com::c1e8e4de-966f-4246-b41e-a152c6d5e786" providerId="AD"/>
  <p188:author id="{0C1CD0F8-D6C2-AF32-B0A9-05CCF935D79D}" name="Polavarapu, Sravya" initials="" userId="S::SXP09DC@fpl.com::c1e8e4de-966f-4246-b41e-a152c6d5e78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32E449-0915-3489-F13D-4958BF900549}" v="2" dt="2026-03-06T21:12:09.810"/>
    <p1510:client id="{3D5DB5FC-4658-F583-C732-14008B1B5411}" v="228" dt="2026-03-06T21:08:18.429"/>
    <p1510:client id="{402E821D-757D-4171-8ACA-4F435E7B4D78}" v="60" dt="2026-03-06T21:59:43.378"/>
    <p1510:client id="{86641220-15A7-299D-70B6-6E66164225E5}" v="853" dt="2026-03-06T23:48:30.708"/>
    <p1510:client id="{B88C122A-6338-C335-F1BF-38D15A97FF11}" v="9" dt="2026-03-06T20:45:56.492"/>
    <p1510:client id="{EB9ED842-BBED-CD7F-F68E-92047C0777E5}" v="25" dt="2026-03-06T08:38:15.4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8/10/relationships/authors" Target="authors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comments/modernComment_10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B4B6D28-434E-445B-9A44-2474DC01FB06}" authorId="{DDCEC304-FD0B-4C3F-2650-F3BF0629C02E}" created="2026-03-06T08:30:35.443" startDate="2026-03-06T08:30:35.443" dueDate="2026-03-06T08:30:35.443" assignedTo="{0C1CD0F8-D6C2-AF32-B0A9-05CCF935D79D}" title="@Polavarapu, Sravya - Please double check all the data on these tabs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7"/>
      <ac:spMk id="31" creationId="{00000000-0000-0000-0000-000000000000}"/>
    </ac:deMkLst>
    <p188:replyLst>
      <p188:reply id="{BAA670C8-582B-40A3-A1E6-3EE85579B583}" authorId="{DDCEC304-FD0B-4C3F-2650-F3BF0629C02E}" created="2026-03-06T20:58:33.233">
        <p188:txBody>
          <a:bodyPr/>
          <a:lstStyle/>
          <a:p>
            <a:r>
              <a:rPr lang="en-US"/>
              <a:t>[@Polavarapu, Sravya] - does this look good?</a:t>
            </a:r>
          </a:p>
        </p188:txBody>
      </p188:reply>
      <p188:reply id="{7E35951F-6B57-4524-AE9C-C726C9CF24B2}" authorId="{8141CEF2-94E8-AA16-395D-841A4AFCD734}" created="2026-03-06T21:12:09.810">
        <p188:txBody>
          <a:bodyPr/>
          <a:lstStyle/>
          <a:p>
            <a:r>
              <a:rPr lang="en-US"/>
              <a:t>yes looks good</a:t>
            </a:r>
          </a:p>
        </p188:txBody>
      </p188:reply>
    </p188:replyLst>
    <p188:txBody>
      <a:bodyPr/>
      <a:lstStyle/>
      <a:p>
        <a:r>
          <a:rPr lang="en-US"/>
          <a:t>[@Polavarapu, Sravya] - Please double check all the data on these tabs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3-06T08:30:35.443" id="{9653CB4E-37FF-41A4-96E8-175851B5B4AA}">
              <p228:atrbtn authorId="{DDCEC304-FD0B-4C3F-2650-F3BF0629C02E}"/>
              <p228:anchr>
                <p228:comment id="{DB4B6D28-434E-445B-9A44-2474DC01FB06}"/>
              </p228:anchr>
              <p228:add/>
            </p228:event>
            <p228:event time="2026-03-06T08:30:35.443" id="{A122E5D0-FF4E-4F01-B3CB-DF2E553E94B7}">
              <p228:atrbtn authorId="{DDCEC304-FD0B-4C3F-2650-F3BF0629C02E}"/>
              <p228:anchr>
                <p228:comment id="{DB4B6D28-434E-445B-9A44-2474DC01FB06}"/>
              </p228:anchr>
              <p228:asgn authorId="{0C1CD0F8-D6C2-AF32-B0A9-05CCF935D79D}"/>
            </p228:event>
            <p228:event time="2026-03-06T08:30:35.443" id="{1A22E219-F466-445C-B461-CAD164112999}">
              <p228:atrbtn authorId="{DDCEC304-FD0B-4C3F-2650-F3BF0629C02E}"/>
              <p228:anchr>
                <p228:comment id="{DB4B6D28-434E-445B-9A44-2474DC01FB06}"/>
              </p228:anchr>
              <p228:title val="@Polavarapu, Sravya - Please double check all the data on these tabs"/>
            </p228:event>
            <p228:event time="2026-03-06T08:30:35.443" id="{7FF55692-81C2-4D9D-BCB4-A83C61FA3EE8}">
              <p228:atrbtn authorId="{DDCEC304-FD0B-4C3F-2650-F3BF0629C02E}"/>
              <p228:anchr>
                <p228:comment id="{DB4B6D28-434E-445B-9A44-2474DC01FB06}"/>
              </p228:anchr>
              <p228:date stDt="2026-03-06T08:30:35.443" endDt="2026-03-06T08:30:35.443"/>
            </p228:event>
          </p228:history>
        </p228:taskDetails>
      </p:ext>
    </p188:extLst>
  </p188:cm>
</p188:cmLst>
</file>

<file path=ppt/comments/modernComment_102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FC610A1-2FE0-4253-BCD9-10D075D4F026}" authorId="{DDCEC304-FD0B-4C3F-2650-F3BF0629C02E}" created="2026-03-06T08:29:02.378" startDate="2026-03-06T08:29:02.378" dueDate="2026-03-06T08:29:02.378" assignedTo="{0C1CD0F8-D6C2-AF32-B0A9-05CCF935D79D}" title="@Polavarapu, Sravya - Please enter the new numbers for the final test here, so I can turn it to a positive result slide">
    <pc:sldMkLst xmlns:pc="http://schemas.microsoft.com/office/powerpoint/2013/main/command">
      <pc:docMk/>
      <pc:sldMk cId="0" sldId="258"/>
    </pc:sldMkLst>
    <p188:replyLst>
      <p188:reply id="{4FFFCDDD-300D-4551-9083-A1E4FFD6A876}" authorId="{DDCEC304-FD0B-4C3F-2650-F3BF0629C02E}" created="2026-03-06T20:59:20.734">
        <p188:txBody>
          <a:bodyPr/>
          <a:lstStyle/>
          <a:p>
            <a:r>
              <a:rPr lang="en-US"/>
              <a:t>[@Polavarapu, Sravya] - Post today's call, please update this ASAP...thanks!
[@Poda, Sunanda], [@Germans, Anto] </a:t>
            </a:r>
          </a:p>
        </p188:txBody>
      </p188:reply>
    </p188:replyLst>
    <p188:txBody>
      <a:bodyPr/>
      <a:lstStyle/>
      <a:p>
        <a:r>
          <a:rPr lang="en-US"/>
          <a:t>[@Polavarapu, Sravya] - Please enter the new numbers for the final test here, so I can turn it to a positive result slide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3-06T08:29:02.378" id="{427831D3-5924-4725-8AE0-602685CD69AC}">
              <p228:atrbtn authorId="{DDCEC304-FD0B-4C3F-2650-F3BF0629C02E}"/>
              <p228:anchr>
                <p228:comment id="{4FC610A1-2FE0-4253-BCD9-10D075D4F026}"/>
              </p228:anchr>
              <p228:add/>
            </p228:event>
            <p228:event time="2026-03-06T08:29:02.378" id="{51644F75-9863-45B1-95AB-16F8C0E5887B}">
              <p228:atrbtn authorId="{DDCEC304-FD0B-4C3F-2650-F3BF0629C02E}"/>
              <p228:anchr>
                <p228:comment id="{4FC610A1-2FE0-4253-BCD9-10D075D4F026}"/>
              </p228:anchr>
              <p228:asgn authorId="{0C1CD0F8-D6C2-AF32-B0A9-05CCF935D79D}"/>
            </p228:event>
            <p228:event time="2026-03-06T08:29:02.378" id="{1F23F699-BA6F-4A4F-9580-123DEBA7B73D}">
              <p228:atrbtn authorId="{DDCEC304-FD0B-4C3F-2650-F3BF0629C02E}"/>
              <p228:anchr>
                <p228:comment id="{4FC610A1-2FE0-4253-BCD9-10D075D4F026}"/>
              </p228:anchr>
              <p228:title val="@Polavarapu, Sravya - Please enter the new numbers for the final test here, so I can turn it to a positive result slide"/>
            </p228:event>
            <p228:event time="2026-03-06T08:29:02.378" id="{A50F7641-75E2-415C-8FFF-32CB1529F4CF}">
              <p228:atrbtn authorId="{DDCEC304-FD0B-4C3F-2650-F3BF0629C02E}"/>
              <p228:anchr>
                <p228:comment id="{4FC610A1-2FE0-4253-BCD9-10D075D4F026}"/>
              </p228:anchr>
              <p228:date stDt="2026-03-06T08:29:02.378" endDt="2026-03-06T08:29:02.378"/>
            </p228:event>
            <p228:event time="2026-03-06T08:31:16.194" id="{52C55211-8181-4D2A-87C2-D50F268A3FDE}">
              <p228:atrbtn authorId="{DDCEC304-FD0B-4C3F-2650-F3BF0629C02E}"/>
              <p228:anchr>
                <p228:comment id="{00000000-0000-0000-0000-000000000000}"/>
              </p228:anchr>
              <p228:pcntCmplt val="100000"/>
            </p228:event>
            <p228:event time="2026-03-06T08:31:20.398" id="{9813335F-5FE0-4102-9A10-DEA3E9BE68AB}">
              <p228:atrbtn authorId="{DDCEC304-FD0B-4C3F-2650-F3BF0629C02E}"/>
              <p228:anchr>
                <p228:comment id="{00000000-0000-0000-0000-000000000000}"/>
              </p228:anchr>
              <p228:pcntCmplt val="0"/>
            </p228:event>
          </p228:history>
        </p228:taskDetails>
      </p:ext>
    </p188:extLst>
  </p188:cm>
  <p188:cm id="{3479571B-1358-4D83-B076-56B4A6247972}" authorId="{DDCEC304-FD0B-4C3F-2650-F3BF0629C02E}" created="2026-03-06T22:40:56.488" startDate="2026-03-06T22:40:56.488" dueDate="2026-03-06T22:40:56.488" assignedTo="{0C1CD0F8-D6C2-AF32-B0A9-05CCF935D79D}" title="@Polavarapu, Sravya can you give me the breakdown of these 7.220 seconds?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8"/>
      <ac:spMk id="70" creationId="{00000000-0000-0000-0000-000000000000}"/>
      <ac:txMk cp="0" len="5">
        <ac:context len="6" hash="2208851878"/>
      </ac:txMk>
    </ac:txMkLst>
    <p188:pos x="642937" y="133945"/>
    <p188:txBody>
      <a:bodyPr/>
      <a:lstStyle/>
      <a:p>
        <a:r>
          <a:rPr lang="en-US"/>
          <a:t>[@Polavarapu, Sravya] can you give me the breakdown of these 7.220 seconds?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3-06T22:40:56.488" id="{DAE530FE-812B-4705-A8D4-E86720211CAE}">
              <p228:atrbtn authorId="{DDCEC304-FD0B-4C3F-2650-F3BF0629C02E}"/>
              <p228:anchr>
                <p228:comment id="{3479571B-1358-4D83-B076-56B4A6247972}"/>
              </p228:anchr>
              <p228:add/>
            </p228:event>
            <p228:event time="2026-03-06T22:40:56.488" id="{DF14C5A8-02BC-4A08-9A2D-C270C9E96758}">
              <p228:atrbtn authorId="{DDCEC304-FD0B-4C3F-2650-F3BF0629C02E}"/>
              <p228:anchr>
                <p228:comment id="{3479571B-1358-4D83-B076-56B4A6247972}"/>
              </p228:anchr>
              <p228:asgn authorId="{0C1CD0F8-D6C2-AF32-B0A9-05CCF935D79D}"/>
            </p228:event>
            <p228:event time="2026-03-06T22:40:56.488" id="{7F9159D1-5007-4B90-8386-3DD297F435E8}">
              <p228:atrbtn authorId="{DDCEC304-FD0B-4C3F-2650-F3BF0629C02E}"/>
              <p228:anchr>
                <p228:comment id="{3479571B-1358-4D83-B076-56B4A6247972}"/>
              </p228:anchr>
              <p228:title val="@Polavarapu, Sravya can you give me the breakdown of these 7.220 seconds?"/>
            </p228:event>
            <p228:event time="2026-03-06T22:40:56.488" id="{E4CD6B8A-995E-4F92-93DA-1366506D85C7}">
              <p228:atrbtn authorId="{DDCEC304-FD0B-4C3F-2650-F3BF0629C02E}"/>
              <p228:anchr>
                <p228:comment id="{3479571B-1358-4D83-B076-56B4A6247972}"/>
              </p228:anchr>
              <p228:date stDt="2026-03-06T22:40:56.488" endDt="2026-03-06T22:40:56.488"/>
            </p228:event>
          </p228:history>
        </p228:taskDetails>
      </p:ext>
    </p188:extLst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1542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1_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2_0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ueCover"/>
          <p:cNvSpPr/>
          <p:nvPr/>
        </p:nvSpPr>
        <p:spPr>
          <a:xfrm>
            <a:off x="0" y="0"/>
            <a:ext cx="9144000" cy="3657600"/>
          </a:xfrm>
          <a:prstGeom prst="rect">
            <a:avLst/>
          </a:prstGeom>
          <a:solidFill>
            <a:srgbClr val="0076B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AccentStripe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AEEF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MainTitle"/>
          <p:cNvSpPr/>
          <p:nvPr/>
        </p:nvSpPr>
        <p:spPr>
          <a:xfrm>
            <a:off x="548640" y="548640"/>
            <a:ext cx="80467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4400" b="1">
                <a:solidFill>
                  <a:srgbClr val="FFFFFF"/>
                </a:solidFill>
                <a:latin typeface="Calibri"/>
              </a:rPr>
              <a:t>IR3.1 Performance Testing</a:t>
            </a:r>
          </a:p>
        </p:txBody>
      </p:sp>
      <p:sp>
        <p:nvSpPr>
          <p:cNvPr id="5" name="Subtitle"/>
          <p:cNvSpPr/>
          <p:nvPr/>
        </p:nvSpPr>
        <p:spPr>
          <a:xfrm>
            <a:off x="548640" y="164592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200">
                <a:solidFill>
                  <a:srgbClr val="D6EEFF"/>
                </a:solidFill>
                <a:latin typeface="Calibri"/>
              </a:rPr>
              <a:t>Executive Summary  —  XD CRM Program</a:t>
            </a:r>
          </a:p>
        </p:txBody>
      </p:sp>
      <p:sp>
        <p:nvSpPr>
          <p:cNvPr id="6" name="WhiteLine"/>
          <p:cNvSpPr/>
          <p:nvPr/>
        </p:nvSpPr>
        <p:spPr>
          <a:xfrm>
            <a:off x="548640" y="2286000"/>
            <a:ext cx="8046720" cy="45720"/>
          </a:xfrm>
          <a:prstGeom prst="rect">
            <a:avLst/>
          </a:prstGeom>
          <a:solidFill>
            <a:srgbClr val="FFFFFF">
              <a:alpha val="4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ag"/>
          <p:cNvSpPr/>
          <p:nvPr/>
        </p:nvSpPr>
        <p:spPr>
          <a:xfrm>
            <a:off x="548640" y="23774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FFFFFF"/>
                </a:solidFill>
                <a:latin typeface="Calibri"/>
              </a:rPr>
              <a:t>Performance Testing Approach  |  Test Results  |  Account 360 Deep-Dive  |  Next Steps</a:t>
            </a:r>
          </a:p>
        </p:txBody>
      </p:sp>
      <p:sp>
        <p:nvSpPr>
          <p:cNvPr id="8" name="PresenterBlock"/>
          <p:cNvSpPr/>
          <p:nvPr/>
        </p:nvSpPr>
        <p:spPr>
          <a:xfrm>
            <a:off x="548640" y="384048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0076BE"/>
                </a:solidFill>
                <a:latin typeface="Calibri"/>
              </a:rPr>
              <a:t>CRM Program  |  XD Engineering</a:t>
            </a:r>
          </a:p>
        </p:txBody>
      </p:sp>
      <p:sp>
        <p:nvSpPr>
          <p:cNvPr id="9" name="DateBlock"/>
          <p:cNvSpPr/>
          <p:nvPr/>
        </p:nvSpPr>
        <p:spPr>
          <a:xfrm>
            <a:off x="548640" y="42976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555555"/>
                </a:solidFill>
                <a:latin typeface="Calibri"/>
              </a:rPr>
              <a:t>March 2026</a:t>
            </a:r>
          </a:p>
        </p:txBody>
      </p:sp>
      <p:sp>
        <p:nvSpPr>
          <p:cNvPr id="10" name="BlueAccentRight"/>
          <p:cNvSpPr/>
          <p:nvPr/>
        </p:nvSpPr>
        <p:spPr>
          <a:xfrm>
            <a:off x="8687520" y="3657600"/>
            <a:ext cx="456480" cy="1828800"/>
          </a:xfrm>
          <a:prstGeom prst="rect">
            <a:avLst/>
          </a:prstGeom>
          <a:solidFill>
            <a:srgbClr val="0076BE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BottomStripe"/>
          <p:cNvSpPr/>
          <p:nvPr/>
        </p:nvSpPr>
        <p:spPr>
          <a:xfrm>
            <a:off x="0" y="5395200"/>
            <a:ext cx="9144000" cy="91440"/>
          </a:xfrm>
          <a:prstGeom prst="rect">
            <a:avLst/>
          </a:prstGeom>
          <a:solidFill>
            <a:srgbClr val="0076BE"/>
          </a:solid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bar"/>
          <p:cNvSpPr/>
          <p:nvPr/>
        </p:nvSpPr>
        <p:spPr>
          <a:xfrm>
            <a:off x="0" y="0"/>
            <a:ext cx="548640" cy="5486400"/>
          </a:xfrm>
          <a:prstGeom prst="rect">
            <a:avLst/>
          </a:prstGeom>
          <a:solidFill>
            <a:srgbClr val="0076B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opStripe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76BE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/>
          <p:nvPr/>
        </p:nvSpPr>
        <p:spPr>
          <a:xfrm>
            <a:off x="731520" y="160000"/>
            <a:ext cx="8046720" cy="5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3200" b="1">
                <a:solidFill>
                  <a:srgbClr val="0076BE"/>
                </a:solidFill>
                <a:latin typeface="Calibri"/>
              </a:rPr>
              <a:t>Agenda</a:t>
            </a:r>
          </a:p>
        </p:txBody>
      </p:sp>
      <p:sp>
        <p:nvSpPr>
          <p:cNvPr id="5" name="Dot1"/>
          <p:cNvSpPr/>
          <p:nvPr/>
        </p:nvSpPr>
        <p:spPr>
          <a:xfrm>
            <a:off x="731520" y="780000"/>
            <a:ext cx="457200" cy="457200"/>
          </a:xfrm>
          <a:prstGeom prst="ellipse">
            <a:avLst/>
          </a:prstGeom>
          <a:solidFill>
            <a:srgbClr val="0076BE"/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Item1"/>
          <p:cNvSpPr/>
          <p:nvPr/>
        </p:nvSpPr>
        <p:spPr>
          <a:xfrm>
            <a:off x="1280160" y="780000"/>
            <a:ext cx="7498080" cy="45720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r>
              <a:rPr lang="en-US" sz="1700" b="1" dirty="0">
                <a:solidFill>
                  <a:srgbClr val="003366"/>
                </a:solidFill>
                <a:latin typeface="Calibri"/>
              </a:rPr>
              <a:t>Executive Summary</a:t>
            </a:r>
            <a:r>
              <a:rPr lang="en-US" sz="1500" dirty="0">
                <a:solidFill>
                  <a:srgbClr val="555555"/>
                </a:solidFill>
                <a:latin typeface="Calibri"/>
              </a:rPr>
              <a:t>  —  Key fixes delivered, results achieved &amp; open items</a:t>
            </a:r>
          </a:p>
        </p:txBody>
      </p:sp>
      <p:sp>
        <p:nvSpPr>
          <p:cNvPr id="7" name="Div1"/>
          <p:cNvSpPr/>
          <p:nvPr/>
        </p:nvSpPr>
        <p:spPr>
          <a:xfrm>
            <a:off x="731520" y="1310000"/>
            <a:ext cx="8046720" cy="18288"/>
          </a:xfrm>
          <a:prstGeom prst="rect">
            <a:avLst/>
          </a:prstGeom>
          <a:solidFill>
            <a:srgbClr val="DDDDDD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Dot2"/>
          <p:cNvSpPr/>
          <p:nvPr/>
        </p:nvSpPr>
        <p:spPr>
          <a:xfrm>
            <a:off x="731520" y="1400000"/>
            <a:ext cx="457200" cy="457200"/>
          </a:xfrm>
          <a:prstGeom prst="ellipse">
            <a:avLst/>
          </a:prstGeom>
          <a:solidFill>
            <a:srgbClr val="0076BE"/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9" name="Item2"/>
          <p:cNvSpPr/>
          <p:nvPr/>
        </p:nvSpPr>
        <p:spPr>
          <a:xfrm>
            <a:off x="1280160" y="1400000"/>
            <a:ext cx="7498080" cy="45720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r>
              <a:rPr lang="en-US" sz="1700" b="1">
                <a:solidFill>
                  <a:srgbClr val="003366"/>
                </a:solidFill>
                <a:latin typeface="Calibri"/>
              </a:rPr>
              <a:t>Performance Testing Approach</a:t>
            </a:r>
            <a:r>
              <a:rPr lang="en-US" sz="1500">
                <a:solidFill>
                  <a:srgbClr val="555555"/>
                </a:solidFill>
                <a:latin typeface="Calibri"/>
              </a:rPr>
              <a:t>  —  Scope, methodology &amp; load strategy</a:t>
            </a:r>
          </a:p>
        </p:txBody>
      </p:sp>
      <p:sp>
        <p:nvSpPr>
          <p:cNvPr id="10" name="Div2"/>
          <p:cNvSpPr/>
          <p:nvPr/>
        </p:nvSpPr>
        <p:spPr>
          <a:xfrm>
            <a:off x="731520" y="1930000"/>
            <a:ext cx="8046720" cy="18288"/>
          </a:xfrm>
          <a:prstGeom prst="rect">
            <a:avLst/>
          </a:prstGeom>
          <a:solidFill>
            <a:srgbClr val="DDDDDD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Dot3"/>
          <p:cNvSpPr/>
          <p:nvPr/>
        </p:nvSpPr>
        <p:spPr>
          <a:xfrm>
            <a:off x="731520" y="2020000"/>
            <a:ext cx="457200" cy="457200"/>
          </a:xfrm>
          <a:prstGeom prst="ellipse">
            <a:avLst/>
          </a:prstGeom>
          <a:solidFill>
            <a:srgbClr val="0076BE"/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2" name="Item3"/>
          <p:cNvSpPr/>
          <p:nvPr/>
        </p:nvSpPr>
        <p:spPr>
          <a:xfrm>
            <a:off x="1280160" y="2020000"/>
            <a:ext cx="7498080" cy="45720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r>
              <a:rPr lang="en-US" sz="1700" b="1">
                <a:solidFill>
                  <a:srgbClr val="003366"/>
                </a:solidFill>
                <a:latin typeface="Calibri"/>
              </a:rPr>
              <a:t>Test Volumes &amp; Ramp Strategy</a:t>
            </a:r>
            <a:r>
              <a:rPr lang="en-US" sz="1500">
                <a:solidFill>
                  <a:srgbClr val="555555"/>
                </a:solidFill>
                <a:latin typeface="Calibri"/>
              </a:rPr>
              <a:t>  —  Load parameters, SLA thresholds &amp; test setup</a:t>
            </a:r>
          </a:p>
        </p:txBody>
      </p:sp>
      <p:sp>
        <p:nvSpPr>
          <p:cNvPr id="13" name="Div3"/>
          <p:cNvSpPr/>
          <p:nvPr/>
        </p:nvSpPr>
        <p:spPr>
          <a:xfrm>
            <a:off x="731520" y="2550000"/>
            <a:ext cx="8046720" cy="18288"/>
          </a:xfrm>
          <a:prstGeom prst="rect">
            <a:avLst/>
          </a:prstGeom>
          <a:solidFill>
            <a:srgbClr val="DDDDDD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Dot4"/>
          <p:cNvSpPr/>
          <p:nvPr/>
        </p:nvSpPr>
        <p:spPr>
          <a:xfrm>
            <a:off x="731520" y="2640000"/>
            <a:ext cx="457200" cy="457200"/>
          </a:xfrm>
          <a:prstGeom prst="ellipse">
            <a:avLst/>
          </a:prstGeom>
          <a:solidFill>
            <a:srgbClr val="0076BE"/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5" name="Item4"/>
          <p:cNvSpPr/>
          <p:nvPr/>
        </p:nvSpPr>
        <p:spPr>
          <a:xfrm>
            <a:off x="1280160" y="2640000"/>
            <a:ext cx="7498080" cy="45720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r>
              <a:rPr lang="en-US" sz="1700" b="1">
                <a:solidFill>
                  <a:srgbClr val="003366"/>
                </a:solidFill>
                <a:latin typeface="Calibri"/>
              </a:rPr>
              <a:t>IR3.1 Performance Results</a:t>
            </a:r>
            <a:r>
              <a:rPr lang="en-US" sz="1500">
                <a:solidFill>
                  <a:srgbClr val="555555"/>
                </a:solidFill>
                <a:latin typeface="Calibri"/>
              </a:rPr>
              <a:t>  —  Initial vs. final run, scenario-level outcomes</a:t>
            </a:r>
          </a:p>
        </p:txBody>
      </p:sp>
      <p:sp>
        <p:nvSpPr>
          <p:cNvPr id="16" name="Div4"/>
          <p:cNvSpPr/>
          <p:nvPr/>
        </p:nvSpPr>
        <p:spPr>
          <a:xfrm>
            <a:off x="731520" y="3170000"/>
            <a:ext cx="8046720" cy="18288"/>
          </a:xfrm>
          <a:prstGeom prst="rect">
            <a:avLst/>
          </a:prstGeom>
          <a:solidFill>
            <a:srgbClr val="DDDDDD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Dot5"/>
          <p:cNvSpPr/>
          <p:nvPr/>
        </p:nvSpPr>
        <p:spPr>
          <a:xfrm>
            <a:off x="731520" y="3260000"/>
            <a:ext cx="457200" cy="457200"/>
          </a:xfrm>
          <a:prstGeom prst="ellipse">
            <a:avLst/>
          </a:prstGeom>
          <a:solidFill>
            <a:srgbClr val="0076BE"/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8" name="Item5"/>
          <p:cNvSpPr/>
          <p:nvPr/>
        </p:nvSpPr>
        <p:spPr>
          <a:xfrm>
            <a:off x="1280160" y="3260000"/>
            <a:ext cx="7498080" cy="45720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r>
              <a:rPr lang="en-US" sz="1700" b="1">
                <a:solidFill>
                  <a:srgbClr val="003366"/>
                </a:solidFill>
                <a:latin typeface="Calibri"/>
              </a:rPr>
              <a:t>Account 360 Deep-Dive</a:t>
            </a:r>
            <a:r>
              <a:rPr lang="en-US" sz="1500">
                <a:solidFill>
                  <a:srgbClr val="555555"/>
                </a:solidFill>
                <a:latin typeface="Calibri"/>
              </a:rPr>
              <a:t>  —  Response time breakdown &amp; root cause</a:t>
            </a:r>
          </a:p>
        </p:txBody>
      </p:sp>
      <p:sp>
        <p:nvSpPr>
          <p:cNvPr id="19" name="Div5"/>
          <p:cNvSpPr/>
          <p:nvPr/>
        </p:nvSpPr>
        <p:spPr>
          <a:xfrm>
            <a:off x="731520" y="3790000"/>
            <a:ext cx="8046720" cy="18288"/>
          </a:xfrm>
          <a:prstGeom prst="rect">
            <a:avLst/>
          </a:prstGeom>
          <a:solidFill>
            <a:srgbClr val="DDDDDD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Dot6"/>
          <p:cNvSpPr/>
          <p:nvPr/>
        </p:nvSpPr>
        <p:spPr>
          <a:xfrm>
            <a:off x="731520" y="3880000"/>
            <a:ext cx="457200" cy="457200"/>
          </a:xfrm>
          <a:prstGeom prst="ellipse">
            <a:avLst/>
          </a:prstGeom>
          <a:solidFill>
            <a:srgbClr val="0076BE"/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1" name="Item6"/>
          <p:cNvSpPr/>
          <p:nvPr/>
        </p:nvSpPr>
        <p:spPr>
          <a:xfrm>
            <a:off x="1280160" y="3880000"/>
            <a:ext cx="7498080" cy="45720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r>
              <a:rPr lang="en-US" sz="1700" b="1">
                <a:solidFill>
                  <a:srgbClr val="003366"/>
                </a:solidFill>
                <a:latin typeface="Calibri"/>
              </a:rPr>
              <a:t>Next Steps &amp; Action Plan</a:t>
            </a:r>
            <a:r>
              <a:rPr lang="en-US" sz="1500">
                <a:solidFill>
                  <a:srgbClr val="555555"/>
                </a:solidFill>
                <a:latin typeface="Calibri"/>
              </a:rPr>
              <a:t>  —  Active Salesforce engagement &amp; Mar 11 resolution path</a:t>
            </a:r>
          </a:p>
        </p:txBody>
      </p:sp>
      <p:sp>
        <p:nvSpPr>
          <p:cNvPr id="22" name="BottomStripe"/>
          <p:cNvSpPr/>
          <p:nvPr/>
        </p:nvSpPr>
        <p:spPr>
          <a:xfrm>
            <a:off x="0" y="5395200"/>
            <a:ext cx="9144000" cy="91440"/>
          </a:xfrm>
          <a:prstGeom prst="rect">
            <a:avLst/>
          </a:prstGeom>
          <a:solidFill>
            <a:srgbClr val="0076BE"/>
          </a:solid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76B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opAccent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EEF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/>
          <p:nvPr/>
        </p:nvSpPr>
        <p:spPr>
          <a:xfrm>
            <a:off x="548640" y="91440"/>
            <a:ext cx="6400000" cy="46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FFFFFF"/>
                </a:solidFill>
                <a:latin typeface="Calibri"/>
              </a:rPr>
              <a:t>Executive Summary  —  IR3.1 Performance Testing</a:t>
            </a:r>
          </a:p>
        </p:txBody>
      </p:sp>
      <p:sp>
        <p:nvSpPr>
          <p:cNvPr id="5" name="Badge"/>
          <p:cNvSpPr/>
          <p:nvPr/>
        </p:nvSpPr>
        <p:spPr>
          <a:xfrm>
            <a:off x="7132800" y="175000"/>
            <a:ext cx="1828800" cy="290000"/>
          </a:xfrm>
          <a:prstGeom prst="roundRect">
            <a:avLst>
              <a:gd name="adj" fmla="val 16667"/>
            </a:avLst>
          </a:prstGeom>
          <a:solidFill>
            <a:srgbClr val="E67E22"/>
          </a:solidFill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</a:rPr>
              <a:t>Account 360 — In Progress</a:t>
            </a:r>
          </a:p>
        </p:txBody>
      </p:sp>
      <p:sp>
        <p:nvSpPr>
          <p:cNvPr id="6" name="ObjBand"/>
          <p:cNvSpPr/>
          <p:nvPr/>
        </p:nvSpPr>
        <p:spPr>
          <a:xfrm>
            <a:off x="0" y="640080"/>
            <a:ext cx="9144000" cy="237744"/>
          </a:xfrm>
          <a:prstGeom prst="rect">
            <a:avLst/>
          </a:prstGeom>
          <a:solidFill>
            <a:srgbClr val="E8F4FC"/>
          </a:solidFill>
        </p:spPr>
        <p:txBody>
          <a:bodyPr wrap="square" lIns="182880" tIns="45720" rIns="91440" bIns="45720" rtlCol="0" anchor="ctr"/>
          <a:lstStyle/>
          <a:p>
            <a:r>
              <a:rPr lang="en-US" sz="1200" b="1">
                <a:solidFill>
                  <a:srgbClr val="0076BE"/>
                </a:solidFill>
                <a:latin typeface="Calibri"/>
              </a:rPr>
              <a:t>Objective: </a:t>
            </a:r>
            <a:r>
              <a:rPr lang="en-US" sz="1200">
                <a:solidFill>
                  <a:srgbClr val="333333"/>
                </a:solidFill>
                <a:latin typeface="Calibri"/>
              </a:rPr>
              <a:t>Validate IR3.1 CRM performance under production-scale load and bring all 360 pages within the 5s SLA threshold</a:t>
            </a:r>
          </a:p>
        </p:txBody>
      </p:sp>
      <p:sp>
        <p:nvSpPr>
          <p:cNvPr id="7" name="Fix1Card"/>
          <p:cNvSpPr/>
          <p:nvPr/>
        </p:nvSpPr>
        <p:spPr>
          <a:xfrm>
            <a:off x="274320" y="950000"/>
            <a:ext cx="4205520" cy="1462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txBody>
          <a:bodyPr wrap="square" lIns="182880" tIns="109728" rIns="182880" bIns="91440" rtlCol="0" anchor="t"/>
          <a:lstStyle/>
          <a:p>
            <a:r>
              <a:rPr lang="en-US" sz="1100" b="1">
                <a:solidFill>
                  <a:srgbClr val="27AE60"/>
                </a:solidFill>
                <a:latin typeface="Calibri"/>
              </a:rPr>
              <a:t>RESOLVED  —  CRAID-2844</a:t>
            </a:r>
          </a:p>
          <a:p>
            <a:r>
              <a:rPr lang="en-US" sz="1400" b="1">
                <a:solidFill>
                  <a:srgbClr val="003366"/>
                </a:solidFill>
                <a:latin typeface="Calibri"/>
              </a:rPr>
              <a:t>SAP Backend Optimization</a:t>
            </a:r>
          </a:p>
          <a:p>
            <a:pPr>
              <a:lnSpc>
                <a:spcPts val="1600"/>
              </a:lnSpc>
            </a:pPr>
            <a:r>
              <a:rPr lang="en-US" sz="1150">
                <a:solidFill>
                  <a:srgbClr val="444444"/>
                </a:solidFill>
                <a:latin typeface="Calibri"/>
              </a:rPr>
              <a:t>SAP integration was causing excessive backend degradation across all 360 pages. Root-cause identified in redundant API calls and unoptimized query patterns. Post-fix, API response time stabilized to 3-4s avg.</a:t>
            </a:r>
          </a:p>
        </p:txBody>
      </p:sp>
      <p:sp>
        <p:nvSpPr>
          <p:cNvPr id="8" name="Fix2Card"/>
          <p:cNvSpPr/>
          <p:nvPr/>
        </p:nvSpPr>
        <p:spPr>
          <a:xfrm>
            <a:off x="4663680" y="950000"/>
            <a:ext cx="4205520" cy="1462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txBody>
          <a:bodyPr wrap="square" lIns="182880" tIns="109728" rIns="182880" bIns="91440" rtlCol="0" anchor="t"/>
          <a:lstStyle/>
          <a:p>
            <a:r>
              <a:rPr lang="en-US" sz="1100" b="1" dirty="0">
                <a:solidFill>
                  <a:srgbClr val="27AE60"/>
                </a:solidFill>
                <a:latin typeface="Calibri"/>
              </a:rPr>
              <a:t>RESOLVED  —  CRAID-3304</a:t>
            </a:r>
          </a:p>
          <a:p>
            <a:r>
              <a:rPr lang="en-US" sz="1400" b="1" dirty="0">
                <a:solidFill>
                  <a:srgbClr val="003366"/>
                </a:solidFill>
                <a:latin typeface="Calibri"/>
              </a:rPr>
              <a:t>API Call Sequencing &amp; Prioritization</a:t>
            </a:r>
          </a:p>
          <a:p>
            <a:pPr>
              <a:lnSpc>
                <a:spcPts val="1600"/>
              </a:lnSpc>
            </a:pPr>
            <a:r>
              <a:rPr lang="en-US" sz="1150" dirty="0">
                <a:solidFill>
                  <a:srgbClr val="444444"/>
                </a:solidFill>
                <a:latin typeface="Calibri"/>
              </a:rPr>
              <a:t>API calls were executing in suboptimal sequence, causing compounding wait times. Work Orders calls reordered and prioritized. Result: ~2s reduction in page load. Premise &amp; Customer 360 now fully within SLA.</a:t>
            </a:r>
          </a:p>
        </p:txBody>
      </p:sp>
      <p:sp>
        <p:nvSpPr>
          <p:cNvPr id="9" name="OutcomeCard"/>
          <p:cNvSpPr/>
          <p:nvPr/>
        </p:nvSpPr>
        <p:spPr>
          <a:xfrm>
            <a:off x="274320" y="2485680"/>
            <a:ext cx="2651520" cy="1371600"/>
          </a:xfrm>
          <a:prstGeom prst="rect">
            <a:avLst/>
          </a:prstGeom>
          <a:solidFill>
            <a:srgbClr val="EBF5FB"/>
          </a:solidFill>
          <a:ln w="19050">
            <a:solidFill>
              <a:srgbClr val="0076BE"/>
            </a:solidFill>
          </a:ln>
        </p:spPr>
        <p:txBody>
          <a:bodyPr wrap="square" lIns="182880" tIns="109728" rIns="182880" bIns="91440" rtlCol="0" anchor="t"/>
          <a:lstStyle/>
          <a:p>
            <a:r>
              <a:rPr lang="en-US" sz="1200" b="1" dirty="0">
                <a:solidFill>
                  <a:srgbClr val="0076BE"/>
                </a:solidFill>
                <a:latin typeface="Calibri"/>
              </a:rPr>
              <a:t>Overall Outcomes</a:t>
            </a:r>
          </a:p>
          <a:p>
            <a:pPr>
              <a:lnSpc>
                <a:spcPts val="1700"/>
              </a:lnSpc>
            </a:pPr>
            <a:r>
              <a:rPr lang="en-US" sz="1150" b="1" dirty="0">
                <a:solidFill>
                  <a:srgbClr val="27AE60"/>
                </a:solidFill>
                <a:latin typeface="Calibri"/>
              </a:rPr>
              <a:t>2 of 3 scenarios </a:t>
            </a:r>
            <a:r>
              <a:rPr lang="en-US" sz="1150" dirty="0">
                <a:solidFill>
                  <a:srgbClr val="333333"/>
                </a:solidFill>
                <a:latin typeface="Calibri"/>
              </a:rPr>
              <a:t>passing SLA</a:t>
            </a:r>
          </a:p>
          <a:p>
            <a:pPr>
              <a:lnSpc>
                <a:spcPts val="1700"/>
              </a:lnSpc>
            </a:pPr>
            <a:r>
              <a:rPr lang="en-US" sz="1150" b="1" dirty="0">
                <a:solidFill>
                  <a:srgbClr val="27AE60"/>
                </a:solidFill>
                <a:latin typeface="Calibri"/>
              </a:rPr>
              <a:t>15-20s → 5.7s avg </a:t>
            </a:r>
            <a:r>
              <a:rPr lang="en-US" sz="1150" dirty="0">
                <a:solidFill>
                  <a:srgbClr val="333333"/>
                </a:solidFill>
                <a:latin typeface="Calibri"/>
              </a:rPr>
              <a:t>on Account 360</a:t>
            </a:r>
          </a:p>
          <a:p>
            <a:pPr>
              <a:lnSpc>
                <a:spcPts val="1700"/>
              </a:lnSpc>
            </a:pPr>
            <a:r>
              <a:rPr lang="en-US" sz="1150" b="1" dirty="0">
                <a:solidFill>
                  <a:srgbClr val="27AE60"/>
                </a:solidFill>
                <a:latin typeface="Calibri"/>
              </a:rPr>
              <a:t>Premise &amp; Customer 360 </a:t>
            </a:r>
            <a:r>
              <a:rPr lang="en-US" sz="1150" dirty="0">
                <a:solidFill>
                  <a:srgbClr val="333333"/>
                </a:solidFill>
                <a:latin typeface="Calibri"/>
              </a:rPr>
              <a:t>closed</a:t>
            </a:r>
          </a:p>
        </p:txBody>
      </p:sp>
      <p:sp>
        <p:nvSpPr>
          <p:cNvPr id="10" name="OpenCard"/>
          <p:cNvSpPr/>
          <p:nvPr/>
        </p:nvSpPr>
        <p:spPr>
          <a:xfrm>
            <a:off x="3108480" y="2485680"/>
            <a:ext cx="5760000" cy="1371600"/>
          </a:xfrm>
          <a:prstGeom prst="rect">
            <a:avLst/>
          </a:prstGeom>
          <a:solidFill>
            <a:srgbClr val="FFF8F0"/>
          </a:solidFill>
          <a:ln w="19050">
            <a:solidFill>
              <a:srgbClr val="E67E22"/>
            </a:solidFill>
          </a:ln>
        </p:spPr>
        <p:txBody>
          <a:bodyPr wrap="square" lIns="182880" tIns="109728" rIns="182880" bIns="91440" rtlCol="0" anchor="t"/>
          <a:lstStyle/>
          <a:p>
            <a:r>
              <a:rPr lang="en-US" sz="1100" b="1" dirty="0">
                <a:solidFill>
                  <a:srgbClr val="E67E22"/>
                </a:solidFill>
                <a:latin typeface="Calibri"/>
              </a:rPr>
              <a:t>IN PROGRESS  —  CRAID-3309</a:t>
            </a:r>
          </a:p>
          <a:p>
            <a:r>
              <a:rPr lang="en-US" sz="1400" b="1" dirty="0">
                <a:solidFill>
                  <a:srgbClr val="003366"/>
                </a:solidFill>
                <a:latin typeface="Calibri"/>
              </a:rPr>
              <a:t>Salesforce Omni studio Framework Overhead</a:t>
            </a:r>
          </a:p>
          <a:p>
            <a:pPr>
              <a:lnSpc>
                <a:spcPts val="1600"/>
              </a:lnSpc>
            </a:pPr>
            <a:r>
              <a:rPr lang="en-US" sz="1150" dirty="0">
                <a:solidFill>
                  <a:srgbClr val="444444"/>
                </a:solidFill>
                <a:latin typeface="Calibri"/>
              </a:rPr>
              <a:t>After SAP and API fixes, Account 360 still exceeds SLA due to foundational Omni studio component rendering overhead — independent of any code builds. Severity 1 case raised with Salesforce 03/07. Active architectural engagement ongoing. </a:t>
            </a:r>
          </a:p>
          <a:p>
            <a:pPr>
              <a:lnSpc>
                <a:spcPts val="1600"/>
              </a:lnSpc>
            </a:pPr>
            <a:r>
              <a:rPr lang="en-US" sz="1150" dirty="0">
                <a:solidFill>
                  <a:srgbClr val="444444"/>
                </a:solidFill>
                <a:latin typeface="Calibri"/>
              </a:rPr>
              <a:t>Target resolution: </a:t>
            </a:r>
            <a:r>
              <a:rPr lang="en-US" sz="1150" b="1" dirty="0">
                <a:solidFill>
                  <a:srgbClr val="E67E22"/>
                </a:solidFill>
                <a:latin typeface="Calibri"/>
              </a:rPr>
              <a:t>March 11.</a:t>
            </a:r>
          </a:p>
        </p:txBody>
      </p:sp>
      <p:sp>
        <p:nvSpPr>
          <p:cNvPr id="11" name="Footer"/>
          <p:cNvSpPr/>
          <p:nvPr/>
        </p:nvSpPr>
        <p:spPr>
          <a:xfrm>
            <a:off x="0" y="5211456"/>
            <a:ext cx="9144000" cy="274320"/>
          </a:xfrm>
          <a:prstGeom prst="rect">
            <a:avLst/>
          </a:prstGeom>
          <a:solidFill>
            <a:srgbClr val="0076BE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FooterTxt"/>
          <p:cNvSpPr/>
          <p:nvPr/>
        </p:nvSpPr>
        <p:spPr>
          <a:xfrm>
            <a:off x="548640" y="5211456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/>
            <a:r>
              <a:rPr lang="en-US" sz="900">
                <a:solidFill>
                  <a:srgbClr val="FFFFFF"/>
                </a:solidFill>
                <a:latin typeface="Calibri"/>
              </a:rPr>
              <a:t>CRM Performance Testing | IR3.1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 Approach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64008" cy="65836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052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Scope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2286000" y="1024128"/>
            <a:ext cx="141732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0" y="10607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UI</a:t>
            </a:r>
            <a:endParaRPr lang="en-US" sz="950"/>
          </a:p>
        </p:txBody>
      </p:sp>
      <p:sp>
        <p:nvSpPr>
          <p:cNvPr id="10" name="Shape 8"/>
          <p:cNvSpPr/>
          <p:nvPr/>
        </p:nvSpPr>
        <p:spPr>
          <a:xfrm>
            <a:off x="3703320" y="1179576"/>
            <a:ext cx="2743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977640" y="1024128"/>
            <a:ext cx="1417320" cy="31089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977640" y="10607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5394960" y="1179576"/>
            <a:ext cx="2743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669280" y="1024128"/>
            <a:ext cx="1417320" cy="3108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0" y="10607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</a:t>
            </a:r>
            <a:endParaRPr lang="en-US" sz="950"/>
          </a:p>
        </p:txBody>
      </p:sp>
      <p:sp>
        <p:nvSpPr>
          <p:cNvPr id="19" name="Text 17"/>
          <p:cNvSpPr/>
          <p:nvPr/>
        </p:nvSpPr>
        <p:spPr>
          <a:xfrm>
            <a:off x="4732020" y="134205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16002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1600200"/>
            <a:ext cx="64008" cy="16916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16916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Testing?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457200" y="1984248"/>
            <a:ext cx="3886200" cy="12344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>
                <a:solidFill>
                  <a:srgbClr val="37474F"/>
                </a:solidFill>
                <a:latin typeface="Calibri"/>
                <a:ea typeface="Calibri"/>
                <a:cs typeface="Calibri"/>
              </a:rPr>
              <a:t>End-to-end XD CRM user workflows</a:t>
            </a:r>
            <a:endParaRPr lang="en-US" sz="10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Scenarios: Account 360, Premise 360, Customer 360 pages</a:t>
            </a:r>
            <a:endParaRPr lang="en-US" sz="100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Performance (response time) + Load (concurrent users)</a:t>
            </a:r>
            <a:endParaRPr lang="en-US" sz="100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>
                <a:solidFill>
                  <a:srgbClr val="37474F"/>
                </a:solidFill>
                <a:latin typeface="Calibri"/>
                <a:ea typeface="Calibri"/>
                <a:cs typeface="Calibri"/>
              </a:rPr>
              <a:t>Focus: Salesforce CRM pages under realistic production load and extended stress testing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4663440" y="16002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63440" y="1600200"/>
            <a:ext cx="64008" cy="1691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16916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Volumes &amp; Data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4846320" y="1984248"/>
            <a:ext cx="3886200" cy="12344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>
                <a:solidFill>
                  <a:srgbClr val="37474F"/>
                </a:solidFill>
                <a:latin typeface="Calibri"/>
                <a:ea typeface="Calibri"/>
                <a:cs typeface="Calibri"/>
              </a:rPr>
              <a:t>100 concurrent users × 25 calls each = 2,500 requests per hour</a:t>
            </a:r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2,500 records is unique (no data reuse)</a:t>
            </a:r>
            <a:endParaRPr lang="en-US" sz="100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37474F"/>
                </a:solidFill>
                <a:latin typeface="Calibri"/>
                <a:ea typeface="Calibri"/>
                <a:cs typeface="Calibri"/>
              </a:rPr>
              <a:t>2500 requests are across the value streams such as Account 360, Premise 360 and Customer 360</a:t>
            </a:r>
            <a:endParaRPr lang="en-US" sz="10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>
                <a:solidFill>
                  <a:srgbClr val="37474F"/>
                </a:solidFill>
                <a:latin typeface="Calibri"/>
                <a:ea typeface="Calibri"/>
                <a:cs typeface="Calibri"/>
              </a:rPr>
              <a:t>SLA Threshold: 90th percentile response time &lt; 5 seconds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74320" y="3364992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4320" y="3364992"/>
            <a:ext cx="64008" cy="169164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34564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Ramp-Up Strategy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457200" y="3749040"/>
            <a:ext cx="3886200" cy="12344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>
                <a:solidFill>
                  <a:srgbClr val="37474F"/>
                </a:solidFill>
                <a:latin typeface="Calibri"/>
                <a:ea typeface="Calibri"/>
                <a:cs typeface="Calibri"/>
              </a:rPr>
              <a:t>1 new user added every 3 seconds (gradual ramp)</a:t>
            </a:r>
            <a:endParaRPr lang="en-US" sz="100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>
                <a:solidFill>
                  <a:srgbClr val="37474F"/>
                </a:solidFill>
                <a:latin typeface="Calibri"/>
                <a:ea typeface="Calibri"/>
                <a:cs typeface="Calibri"/>
              </a:rPr>
              <a:t>100 UNIQUE users fully ramped after ~300 seconds (5 min)</a:t>
            </a:r>
            <a:endParaRPr lang="en-US" sz="10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>
                <a:solidFill>
                  <a:srgbClr val="37474F"/>
                </a:solidFill>
                <a:latin typeface="Calibri"/>
                <a:ea typeface="Calibri"/>
                <a:cs typeface="Calibri"/>
              </a:rPr>
              <a:t>Every 3 minutes a transaction is executed by the user</a:t>
            </a:r>
            <a:endParaRPr lang="en-US" sz="1000" dirty="0">
              <a:solidFill>
                <a:srgbClr val="37474F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3,600 seconds (1 hour) per test run</a:t>
            </a:r>
          </a:p>
        </p:txBody>
      </p:sp>
      <p:sp>
        <p:nvSpPr>
          <p:cNvPr id="32" name="Shape 30"/>
          <p:cNvSpPr/>
          <p:nvPr/>
        </p:nvSpPr>
        <p:spPr>
          <a:xfrm>
            <a:off x="4663440" y="3364992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63440" y="3364992"/>
            <a:ext cx="64008" cy="169164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46320" y="34564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Infrastructure</a:t>
            </a:r>
            <a:endParaRPr lang="en-US" sz="1200"/>
          </a:p>
        </p:txBody>
      </p:sp>
      <p:sp>
        <p:nvSpPr>
          <p:cNvPr id="35" name="Text 33"/>
          <p:cNvSpPr/>
          <p:nvPr/>
        </p:nvSpPr>
        <p:spPr>
          <a:xfrm>
            <a:off x="4846320" y="3749040"/>
            <a:ext cx="3886200" cy="12344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Apache JMeter</a:t>
            </a:r>
            <a:endParaRPr lang="en-US" sz="100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Groups configured per scenario</a:t>
            </a:r>
            <a:endParaRPr lang="en-US" sz="100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Monitoring: Avg response time + 90th percentile line</a:t>
            </a:r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>
                <a:solidFill>
                  <a:srgbClr val="37474F"/>
                </a:solidFill>
                <a:ea typeface="Calibri"/>
                <a:cs typeface="Calibri"/>
              </a:rPr>
              <a:t>Industry standard: A good user experience falls close to &gt; </a:t>
            </a:r>
            <a:r>
              <a:rPr lang="en-US" sz="1000" dirty="0">
                <a:solidFill>
                  <a:srgbClr val="37474F"/>
                </a:solidFill>
                <a:ea typeface="Calibri"/>
                <a:cs typeface="Calibri"/>
              </a:rPr>
              <a:t>5 sec</a:t>
            </a:r>
            <a:endParaRPr lang="en-US" sz="1000" dirty="0">
              <a:ea typeface="Calibri"/>
              <a:cs typeface="Calibri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74320" y="5001768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Performance Testing | IR3.1</a:t>
            </a:r>
            <a:endParaRPr lang="en-US" sz="90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IR3.1 Performance Test Results — Initial vs. Final Run Comparison</a:t>
            </a:r>
            <a:endParaRPr lang="en-US" sz="1900"/>
          </a:p>
        </p:txBody>
      </p:sp>
      <p:sp>
        <p:nvSpPr>
          <p:cNvPr id="5" name="Shape 3"/>
          <p:cNvSpPr/>
          <p:nvPr/>
        </p:nvSpPr>
        <p:spPr>
          <a:xfrm>
            <a:off x="274320" y="795528"/>
            <a:ext cx="201168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7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320040" y="11521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Tested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320040" y="13441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· Premise · Customer 360</a:t>
            </a:r>
            <a:endParaRPr lang="en-US" sz="750"/>
          </a:p>
        </p:txBody>
      </p:sp>
      <p:sp>
        <p:nvSpPr>
          <p:cNvPr id="9" name="Shape 7"/>
          <p:cNvSpPr/>
          <p:nvPr/>
        </p:nvSpPr>
        <p:spPr>
          <a:xfrm>
            <a:off x="2441448" y="795528"/>
            <a:ext cx="201168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C6282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32888" y="8229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2000"/>
          </a:p>
        </p:txBody>
      </p:sp>
      <p:sp>
        <p:nvSpPr>
          <p:cNvPr id="11" name="Text 9"/>
          <p:cNvSpPr/>
          <p:nvPr/>
        </p:nvSpPr>
        <p:spPr>
          <a:xfrm>
            <a:off x="2487168" y="11521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Run Result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2487168" y="13441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Resolved  |  1 In Progress</a:t>
            </a:r>
            <a:endParaRPr lang="en-US" sz="750"/>
          </a:p>
        </p:txBody>
      </p:sp>
      <p:sp>
        <p:nvSpPr>
          <p:cNvPr id="13" name="Shape 11"/>
          <p:cNvSpPr/>
          <p:nvPr/>
        </p:nvSpPr>
        <p:spPr>
          <a:xfrm>
            <a:off x="4608576" y="795528"/>
            <a:ext cx="201168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7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00016" y="8229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CRAID-2844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4654296" y="11521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Filed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>
          <a:xfrm>
            <a:off x="4654296" y="13441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against all 3 scenarios</a:t>
            </a:r>
            <a:endParaRPr lang="en-US" sz="750"/>
          </a:p>
        </p:txBody>
      </p:sp>
      <p:sp>
        <p:nvSpPr>
          <p:cNvPr id="17" name="Shape 15"/>
          <p:cNvSpPr/>
          <p:nvPr/>
        </p:nvSpPr>
        <p:spPr>
          <a:xfrm>
            <a:off x="6775704" y="795528"/>
            <a:ext cx="201168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7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67144" y="8229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</a:t>
            </a:r>
            <a:endParaRPr lang="en-US" sz="2000"/>
          </a:p>
        </p:txBody>
      </p:sp>
      <p:sp>
        <p:nvSpPr>
          <p:cNvPr id="19" name="Text 17"/>
          <p:cNvSpPr/>
          <p:nvPr/>
        </p:nvSpPr>
        <p:spPr>
          <a:xfrm>
            <a:off x="6821424" y="11521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Volume</a:t>
            </a:r>
            <a:endParaRPr lang="en-US" sz="900"/>
          </a:p>
        </p:txBody>
      </p:sp>
      <p:sp>
        <p:nvSpPr>
          <p:cNvPr id="20" name="Text 18"/>
          <p:cNvSpPr/>
          <p:nvPr/>
        </p:nvSpPr>
        <p:spPr>
          <a:xfrm>
            <a:off x="6821424" y="13441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users × 25 calls, all unique</a:t>
            </a:r>
            <a:endParaRPr lang="en-US" sz="750"/>
          </a:p>
        </p:txBody>
      </p:sp>
      <p:sp>
        <p:nvSpPr>
          <p:cNvPr id="21" name="Shape 19"/>
          <p:cNvSpPr/>
          <p:nvPr/>
        </p:nvSpPr>
        <p:spPr>
          <a:xfrm>
            <a:off x="228600" y="1664208"/>
            <a:ext cx="141732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691640" y="1664208"/>
            <a:ext cx="3154680" cy="256032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46320" y="1664208"/>
            <a:ext cx="4069080" cy="256032"/>
          </a:xfrm>
          <a:prstGeom prst="rect">
            <a:avLst/>
          </a:prstGeom>
          <a:solidFill>
            <a:srgbClr val="005F6B"/>
          </a:solidFill>
          <a:ln w="12700">
            <a:solidFill>
              <a:srgbClr val="005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46320" y="1664208"/>
            <a:ext cx="0" cy="340522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691640" y="1700784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Run  —  Feb 20, 2026  (Reference)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4846320" y="170078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Run  —  Mar 6, 2026</a:t>
            </a:r>
            <a:endParaRPr lang="en-US" sz="1400"/>
          </a:p>
        </p:txBody>
      </p:sp>
      <p:sp>
        <p:nvSpPr>
          <p:cNvPr id="27" name="Shape 25"/>
          <p:cNvSpPr/>
          <p:nvPr/>
        </p:nvSpPr>
        <p:spPr>
          <a:xfrm>
            <a:off x="1691640" y="1920240"/>
            <a:ext cx="3154680" cy="274320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846320" y="1920240"/>
            <a:ext cx="4069080" cy="274320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28600" y="195681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800"/>
          </a:p>
        </p:txBody>
      </p:sp>
      <p:sp>
        <p:nvSpPr>
          <p:cNvPr id="30" name="Text 28"/>
          <p:cNvSpPr/>
          <p:nvPr/>
        </p:nvSpPr>
        <p:spPr>
          <a:xfrm>
            <a:off x="1691640" y="195681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Resp</a:t>
            </a:r>
            <a:endParaRPr lang="en-US" sz="800"/>
          </a:p>
        </p:txBody>
      </p:sp>
      <p:sp>
        <p:nvSpPr>
          <p:cNvPr id="31" name="Text 29"/>
          <p:cNvSpPr/>
          <p:nvPr/>
        </p:nvSpPr>
        <p:spPr>
          <a:xfrm>
            <a:off x="2788920" y="195681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90 Percentile</a:t>
            </a:r>
            <a:endParaRPr lang="en-US" sz="800">
              <a:latin typeface="Calibri"/>
              <a:ea typeface="Calibri"/>
              <a:cs typeface="Calibri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886200" y="19568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/>
          </a:p>
        </p:txBody>
      </p:sp>
      <p:sp>
        <p:nvSpPr>
          <p:cNvPr id="33" name="Text 31"/>
          <p:cNvSpPr/>
          <p:nvPr/>
        </p:nvSpPr>
        <p:spPr>
          <a:xfrm>
            <a:off x="4846320" y="195681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Resp</a:t>
            </a:r>
            <a:endParaRPr lang="en-US" sz="800"/>
          </a:p>
        </p:txBody>
      </p:sp>
      <p:sp>
        <p:nvSpPr>
          <p:cNvPr id="34" name="Text 32"/>
          <p:cNvSpPr/>
          <p:nvPr/>
        </p:nvSpPr>
        <p:spPr>
          <a:xfrm>
            <a:off x="5943600" y="195681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90 Percentile</a:t>
            </a:r>
            <a:endParaRPr lang="en-US" sz="800"/>
          </a:p>
        </p:txBody>
      </p:sp>
      <p:sp>
        <p:nvSpPr>
          <p:cNvPr id="35" name="Text 33"/>
          <p:cNvSpPr/>
          <p:nvPr/>
        </p:nvSpPr>
        <p:spPr>
          <a:xfrm>
            <a:off x="7040880" y="19568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/>
          </a:p>
        </p:txBody>
      </p:sp>
      <p:sp>
        <p:nvSpPr>
          <p:cNvPr id="36" name="Text 34"/>
          <p:cNvSpPr/>
          <p:nvPr/>
        </p:nvSpPr>
        <p:spPr>
          <a:xfrm>
            <a:off x="8092440" y="19568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Met?</a:t>
            </a:r>
            <a:endParaRPr lang="en-US" sz="800"/>
          </a:p>
        </p:txBody>
      </p:sp>
      <p:sp>
        <p:nvSpPr>
          <p:cNvPr id="37" name="Shape 35"/>
          <p:cNvSpPr/>
          <p:nvPr/>
        </p:nvSpPr>
        <p:spPr>
          <a:xfrm>
            <a:off x="228600" y="2194560"/>
            <a:ext cx="8686800" cy="194767"/>
          </a:xfrm>
          <a:prstGeom prst="rect">
            <a:avLst/>
          </a:prstGeom>
          <a:solidFill>
            <a:srgbClr val="EDF7EE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320" y="2221992"/>
            <a:ext cx="132588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360 — Login</a:t>
            </a:r>
            <a:endParaRPr lang="en-US" sz="850"/>
          </a:p>
        </p:txBody>
      </p:sp>
      <p:sp>
        <p:nvSpPr>
          <p:cNvPr id="39" name="Text 37"/>
          <p:cNvSpPr/>
          <p:nvPr/>
        </p:nvSpPr>
        <p:spPr>
          <a:xfrm>
            <a:off x="1691640" y="2221992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0.680s</a:t>
            </a:r>
            <a:endParaRPr lang="en-US" sz="850"/>
          </a:p>
        </p:txBody>
      </p:sp>
      <p:sp>
        <p:nvSpPr>
          <p:cNvPr id="40" name="Text 38"/>
          <p:cNvSpPr/>
          <p:nvPr/>
        </p:nvSpPr>
        <p:spPr>
          <a:xfrm>
            <a:off x="2788920" y="2221992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0.705s</a:t>
            </a:r>
            <a:endParaRPr lang="en-US" sz="850"/>
          </a:p>
        </p:txBody>
      </p:sp>
      <p:sp>
        <p:nvSpPr>
          <p:cNvPr id="41" name="Text 39"/>
          <p:cNvSpPr/>
          <p:nvPr/>
        </p:nvSpPr>
        <p:spPr>
          <a:xfrm>
            <a:off x="3886200" y="2221992"/>
            <a:ext cx="91440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50"/>
          </a:p>
        </p:txBody>
      </p:sp>
      <p:sp>
        <p:nvSpPr>
          <p:cNvPr id="42" name="Text 40"/>
          <p:cNvSpPr/>
          <p:nvPr/>
        </p:nvSpPr>
        <p:spPr>
          <a:xfrm>
            <a:off x="4846320" y="2221992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1B3A6B"/>
                </a:solidFill>
                <a:latin typeface="Calibri"/>
                <a:ea typeface="Calibri"/>
                <a:cs typeface="Calibri"/>
              </a:rPr>
              <a:t>0.578</a:t>
            </a:r>
            <a:endParaRPr lang="en-US" sz="750"/>
          </a:p>
        </p:txBody>
      </p:sp>
      <p:sp>
        <p:nvSpPr>
          <p:cNvPr id="43" name="Text 41"/>
          <p:cNvSpPr/>
          <p:nvPr/>
        </p:nvSpPr>
        <p:spPr>
          <a:xfrm>
            <a:off x="5943600" y="2221992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1B3A6B"/>
                </a:solidFill>
                <a:ea typeface="Calibri"/>
                <a:cs typeface="Calibri"/>
              </a:rPr>
              <a:t>0.713</a:t>
            </a:r>
          </a:p>
        </p:txBody>
      </p:sp>
      <p:sp>
        <p:nvSpPr>
          <p:cNvPr id="44" name="Text 42"/>
          <p:cNvSpPr/>
          <p:nvPr/>
        </p:nvSpPr>
        <p:spPr>
          <a:xfrm>
            <a:off x="7040880" y="2221992"/>
            <a:ext cx="100584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i="1">
                <a:solidFill>
                  <a:srgbClr val="1B7A3E"/>
                </a:solidFill>
                <a:ea typeface="Calibri"/>
                <a:cs typeface="Calibri"/>
              </a:rPr>
              <a:t>Pass</a:t>
            </a:r>
          </a:p>
        </p:txBody>
      </p:sp>
      <p:sp>
        <p:nvSpPr>
          <p:cNvPr id="45" name="Text 43"/>
          <p:cNvSpPr/>
          <p:nvPr/>
        </p:nvSpPr>
        <p:spPr>
          <a:xfrm>
            <a:off x="8092440" y="2221992"/>
            <a:ext cx="8229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i="1">
                <a:solidFill>
                  <a:srgbClr val="1B7A3E"/>
                </a:solidFill>
                <a:ea typeface="Calibri"/>
                <a:cs typeface="Calibri"/>
              </a:rPr>
              <a:t>Met</a:t>
            </a:r>
          </a:p>
        </p:txBody>
      </p:sp>
      <p:sp>
        <p:nvSpPr>
          <p:cNvPr id="46" name="Shape 44"/>
          <p:cNvSpPr/>
          <p:nvPr/>
        </p:nvSpPr>
        <p:spPr>
          <a:xfrm>
            <a:off x="228600" y="2389327"/>
            <a:ext cx="8686800" cy="194767"/>
          </a:xfrm>
          <a:prstGeom prst="rect">
            <a:avLst/>
          </a:prstGeom>
          <a:solidFill>
            <a:srgbClr val="EDF7EE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74320" y="2416759"/>
            <a:ext cx="132588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360 — Homepage</a:t>
            </a:r>
            <a:endParaRPr lang="en-US" sz="850"/>
          </a:p>
        </p:txBody>
      </p:sp>
      <p:sp>
        <p:nvSpPr>
          <p:cNvPr id="48" name="Text 46"/>
          <p:cNvSpPr/>
          <p:nvPr/>
        </p:nvSpPr>
        <p:spPr>
          <a:xfrm>
            <a:off x="1691640" y="2416759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0.588s</a:t>
            </a:r>
            <a:endParaRPr lang="en-US" sz="850"/>
          </a:p>
        </p:txBody>
      </p:sp>
      <p:sp>
        <p:nvSpPr>
          <p:cNvPr id="49" name="Text 47"/>
          <p:cNvSpPr/>
          <p:nvPr/>
        </p:nvSpPr>
        <p:spPr>
          <a:xfrm>
            <a:off x="2788920" y="2416759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0.684s</a:t>
            </a:r>
            <a:endParaRPr lang="en-US" sz="850"/>
          </a:p>
        </p:txBody>
      </p:sp>
      <p:sp>
        <p:nvSpPr>
          <p:cNvPr id="50" name="Text 48"/>
          <p:cNvSpPr/>
          <p:nvPr/>
        </p:nvSpPr>
        <p:spPr>
          <a:xfrm>
            <a:off x="3886200" y="2416759"/>
            <a:ext cx="91440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50"/>
          </a:p>
        </p:txBody>
      </p:sp>
      <p:sp>
        <p:nvSpPr>
          <p:cNvPr id="51" name="Text 49"/>
          <p:cNvSpPr/>
          <p:nvPr/>
        </p:nvSpPr>
        <p:spPr>
          <a:xfrm>
            <a:off x="4846320" y="2416759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i="1">
                <a:solidFill>
                  <a:srgbClr val="1B3A6B"/>
                </a:solidFill>
                <a:ea typeface="Calibri"/>
                <a:cs typeface="Calibri"/>
              </a:rPr>
              <a:t>0.584</a:t>
            </a:r>
          </a:p>
        </p:txBody>
      </p:sp>
      <p:sp>
        <p:nvSpPr>
          <p:cNvPr id="52" name="Text 50"/>
          <p:cNvSpPr/>
          <p:nvPr/>
        </p:nvSpPr>
        <p:spPr>
          <a:xfrm>
            <a:off x="5943600" y="2416759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1B3A6B"/>
                </a:solidFill>
                <a:ea typeface="Calibri"/>
                <a:cs typeface="Calibri"/>
              </a:rPr>
              <a:t>0.746</a:t>
            </a:r>
          </a:p>
        </p:txBody>
      </p:sp>
      <p:sp>
        <p:nvSpPr>
          <p:cNvPr id="53" name="Text 51"/>
          <p:cNvSpPr/>
          <p:nvPr/>
        </p:nvSpPr>
        <p:spPr>
          <a:xfrm>
            <a:off x="7040880" y="2416759"/>
            <a:ext cx="100584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i="1">
                <a:solidFill>
                  <a:srgbClr val="1B7A3E"/>
                </a:solidFill>
                <a:ea typeface="Calibri"/>
                <a:cs typeface="Calibri"/>
              </a:rPr>
              <a:t>Pass</a:t>
            </a:r>
          </a:p>
        </p:txBody>
      </p:sp>
      <p:sp>
        <p:nvSpPr>
          <p:cNvPr id="54" name="Text 52"/>
          <p:cNvSpPr/>
          <p:nvPr/>
        </p:nvSpPr>
        <p:spPr>
          <a:xfrm>
            <a:off x="8092440" y="2416759"/>
            <a:ext cx="8229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i="1">
                <a:solidFill>
                  <a:srgbClr val="1B7A3E"/>
                </a:solidFill>
                <a:ea typeface="Calibri"/>
                <a:cs typeface="Calibri"/>
              </a:rPr>
              <a:t>Met</a:t>
            </a:r>
          </a:p>
        </p:txBody>
      </p:sp>
      <p:sp>
        <p:nvSpPr>
          <p:cNvPr id="55" name="Shape 53"/>
          <p:cNvSpPr/>
          <p:nvPr/>
        </p:nvSpPr>
        <p:spPr>
          <a:xfrm>
            <a:off x="228600" y="2584094"/>
            <a:ext cx="8686800" cy="194767"/>
          </a:xfrm>
          <a:prstGeom prst="rect">
            <a:avLst/>
          </a:prstGeom>
          <a:solidFill>
            <a:srgbClr val="EDF7EE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274320" y="2611526"/>
            <a:ext cx="132588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360 — Search</a:t>
            </a:r>
            <a:endParaRPr lang="en-US" sz="850"/>
          </a:p>
        </p:txBody>
      </p:sp>
      <p:sp>
        <p:nvSpPr>
          <p:cNvPr id="57" name="Text 55"/>
          <p:cNvSpPr/>
          <p:nvPr/>
        </p:nvSpPr>
        <p:spPr>
          <a:xfrm>
            <a:off x="1691640" y="2611526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0.243s</a:t>
            </a:r>
            <a:endParaRPr lang="en-US" sz="850"/>
          </a:p>
        </p:txBody>
      </p:sp>
      <p:sp>
        <p:nvSpPr>
          <p:cNvPr id="58" name="Text 56"/>
          <p:cNvSpPr/>
          <p:nvPr/>
        </p:nvSpPr>
        <p:spPr>
          <a:xfrm>
            <a:off x="2788920" y="2611526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0.276s</a:t>
            </a:r>
            <a:endParaRPr lang="en-US" sz="850"/>
          </a:p>
        </p:txBody>
      </p:sp>
      <p:sp>
        <p:nvSpPr>
          <p:cNvPr id="59" name="Text 57"/>
          <p:cNvSpPr/>
          <p:nvPr/>
        </p:nvSpPr>
        <p:spPr>
          <a:xfrm>
            <a:off x="3886200" y="2611526"/>
            <a:ext cx="91440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50"/>
          </a:p>
        </p:txBody>
      </p:sp>
      <p:sp>
        <p:nvSpPr>
          <p:cNvPr id="60" name="Text 58"/>
          <p:cNvSpPr/>
          <p:nvPr/>
        </p:nvSpPr>
        <p:spPr>
          <a:xfrm>
            <a:off x="4846320" y="2611526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i="1">
                <a:solidFill>
                  <a:srgbClr val="1B3A6B"/>
                </a:solidFill>
                <a:ea typeface="Calibri"/>
                <a:cs typeface="Calibri"/>
              </a:rPr>
              <a:t>0.240</a:t>
            </a:r>
          </a:p>
        </p:txBody>
      </p:sp>
      <p:sp>
        <p:nvSpPr>
          <p:cNvPr id="61" name="Text 59"/>
          <p:cNvSpPr/>
          <p:nvPr/>
        </p:nvSpPr>
        <p:spPr>
          <a:xfrm>
            <a:off x="5943600" y="2611526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1B3A6B"/>
                </a:solidFill>
                <a:ea typeface="Calibri"/>
                <a:cs typeface="Calibri"/>
              </a:rPr>
              <a:t>0.305</a:t>
            </a:r>
          </a:p>
        </p:txBody>
      </p:sp>
      <p:sp>
        <p:nvSpPr>
          <p:cNvPr id="62" name="Text 60"/>
          <p:cNvSpPr/>
          <p:nvPr/>
        </p:nvSpPr>
        <p:spPr>
          <a:xfrm>
            <a:off x="7040880" y="2611526"/>
            <a:ext cx="100584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i="1">
                <a:solidFill>
                  <a:srgbClr val="1B7A3E"/>
                </a:solidFill>
                <a:latin typeface="Calibri"/>
                <a:ea typeface="Calibri"/>
                <a:cs typeface="Calibri"/>
              </a:rPr>
              <a:t>Pass</a:t>
            </a:r>
            <a:endParaRPr lang="en-US" sz="750"/>
          </a:p>
        </p:txBody>
      </p:sp>
      <p:sp>
        <p:nvSpPr>
          <p:cNvPr id="63" name="Text 61"/>
          <p:cNvSpPr/>
          <p:nvPr/>
        </p:nvSpPr>
        <p:spPr>
          <a:xfrm>
            <a:off x="8092440" y="2611526"/>
            <a:ext cx="8229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i="1">
                <a:solidFill>
                  <a:srgbClr val="1B7A3E"/>
                </a:solidFill>
                <a:latin typeface="Calibri"/>
                <a:ea typeface="Calibri"/>
                <a:cs typeface="Calibri"/>
              </a:rPr>
              <a:t>Met</a:t>
            </a:r>
            <a:endParaRPr lang="en-US" sz="750"/>
          </a:p>
        </p:txBody>
      </p:sp>
      <p:sp>
        <p:nvSpPr>
          <p:cNvPr id="64" name="Shape 62"/>
          <p:cNvSpPr/>
          <p:nvPr/>
        </p:nvSpPr>
        <p:spPr>
          <a:xfrm>
            <a:off x="228600" y="2778862"/>
            <a:ext cx="8686800" cy="194767"/>
          </a:xfrm>
          <a:prstGeom prst="rect">
            <a:avLst/>
          </a:prstGeom>
          <a:solidFill>
            <a:srgbClr val="FFEBEE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274320" y="2806294"/>
            <a:ext cx="132588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360 Page</a:t>
            </a:r>
            <a:endParaRPr lang="en-US" sz="850"/>
          </a:p>
        </p:txBody>
      </p:sp>
      <p:sp>
        <p:nvSpPr>
          <p:cNvPr id="66" name="Text 64"/>
          <p:cNvSpPr/>
          <p:nvPr/>
        </p:nvSpPr>
        <p:spPr>
          <a:xfrm>
            <a:off x="1691640" y="2806294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23.458s</a:t>
            </a:r>
            <a:endParaRPr lang="en-US" sz="850"/>
          </a:p>
        </p:txBody>
      </p:sp>
      <p:sp>
        <p:nvSpPr>
          <p:cNvPr id="67" name="Text 65"/>
          <p:cNvSpPr/>
          <p:nvPr/>
        </p:nvSpPr>
        <p:spPr>
          <a:xfrm>
            <a:off x="2788920" y="2806294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32.478s</a:t>
            </a:r>
            <a:endParaRPr lang="en-US" sz="850"/>
          </a:p>
        </p:txBody>
      </p:sp>
      <p:sp>
        <p:nvSpPr>
          <p:cNvPr id="68" name="Text 66"/>
          <p:cNvSpPr/>
          <p:nvPr/>
        </p:nvSpPr>
        <p:spPr>
          <a:xfrm>
            <a:off x="3886200" y="2806294"/>
            <a:ext cx="91440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850"/>
          </a:p>
        </p:txBody>
      </p:sp>
      <p:sp>
        <p:nvSpPr>
          <p:cNvPr id="69" name="Text 67"/>
          <p:cNvSpPr/>
          <p:nvPr/>
        </p:nvSpPr>
        <p:spPr>
          <a:xfrm>
            <a:off x="4846320" y="2806294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i="1">
                <a:solidFill>
                  <a:srgbClr val="1B3A6B"/>
                </a:solidFill>
                <a:ea typeface="Calibri"/>
                <a:cs typeface="Calibri"/>
              </a:rPr>
              <a:t>5.679</a:t>
            </a:r>
          </a:p>
        </p:txBody>
      </p:sp>
      <p:sp>
        <p:nvSpPr>
          <p:cNvPr id="70" name="Text 68"/>
          <p:cNvSpPr/>
          <p:nvPr/>
        </p:nvSpPr>
        <p:spPr>
          <a:xfrm>
            <a:off x="5943600" y="2806294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1B3A6B"/>
                </a:solidFill>
                <a:ea typeface="Calibri"/>
                <a:cs typeface="Calibri"/>
              </a:rPr>
              <a:t>7.220</a:t>
            </a:r>
          </a:p>
        </p:txBody>
      </p:sp>
      <p:sp>
        <p:nvSpPr>
          <p:cNvPr id="71" name="Text 69"/>
          <p:cNvSpPr/>
          <p:nvPr/>
        </p:nvSpPr>
        <p:spPr>
          <a:xfrm>
            <a:off x="7040880" y="2806294"/>
            <a:ext cx="100584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E67E22"/>
                </a:solidFill>
                <a:ea typeface="Calibri"/>
                <a:cs typeface="Calibri"/>
              </a:rPr>
              <a:t>Failed</a:t>
            </a:r>
          </a:p>
        </p:txBody>
      </p:sp>
      <p:sp>
        <p:nvSpPr>
          <p:cNvPr id="72" name="Text 70"/>
          <p:cNvSpPr/>
          <p:nvPr/>
        </p:nvSpPr>
        <p:spPr>
          <a:xfrm>
            <a:off x="8092440" y="2806294"/>
            <a:ext cx="8229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i="1">
                <a:solidFill>
                  <a:srgbClr val="E67E22"/>
                </a:solidFill>
                <a:ea typeface="Calibri"/>
                <a:cs typeface="Calibri"/>
              </a:rPr>
              <a:t>In Progress</a:t>
            </a:r>
          </a:p>
        </p:txBody>
      </p:sp>
      <p:sp>
        <p:nvSpPr>
          <p:cNvPr id="73" name="Shape 71"/>
          <p:cNvSpPr/>
          <p:nvPr/>
        </p:nvSpPr>
        <p:spPr>
          <a:xfrm>
            <a:off x="228600" y="2973629"/>
            <a:ext cx="8686800" cy="194767"/>
          </a:xfrm>
          <a:prstGeom prst="rect">
            <a:avLst/>
          </a:prstGeom>
          <a:solidFill>
            <a:srgbClr val="F0FAF0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274320" y="3001061"/>
            <a:ext cx="132588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Premise 360 — Login</a:t>
            </a:r>
            <a:endParaRPr lang="en-US" sz="850"/>
          </a:p>
        </p:txBody>
      </p:sp>
      <p:sp>
        <p:nvSpPr>
          <p:cNvPr id="75" name="Text 73"/>
          <p:cNvSpPr/>
          <p:nvPr/>
        </p:nvSpPr>
        <p:spPr>
          <a:xfrm>
            <a:off x="1691640" y="3001061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0.680s</a:t>
            </a:r>
            <a:endParaRPr lang="en-US" sz="850"/>
          </a:p>
        </p:txBody>
      </p:sp>
      <p:sp>
        <p:nvSpPr>
          <p:cNvPr id="76" name="Text 74"/>
          <p:cNvSpPr/>
          <p:nvPr/>
        </p:nvSpPr>
        <p:spPr>
          <a:xfrm>
            <a:off x="2788920" y="3001061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0.705s</a:t>
            </a:r>
            <a:endParaRPr lang="en-US" sz="850"/>
          </a:p>
        </p:txBody>
      </p:sp>
      <p:sp>
        <p:nvSpPr>
          <p:cNvPr id="77" name="Text 75"/>
          <p:cNvSpPr/>
          <p:nvPr/>
        </p:nvSpPr>
        <p:spPr>
          <a:xfrm>
            <a:off x="3886200" y="3001061"/>
            <a:ext cx="91440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50"/>
          </a:p>
        </p:txBody>
      </p:sp>
      <p:sp>
        <p:nvSpPr>
          <p:cNvPr id="78" name="Text 76"/>
          <p:cNvSpPr/>
          <p:nvPr/>
        </p:nvSpPr>
        <p:spPr>
          <a:xfrm>
            <a:off x="4846320" y="3001061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i="1">
                <a:solidFill>
                  <a:srgbClr val="1B3A6B"/>
                </a:solidFill>
                <a:ea typeface="Calibri"/>
                <a:cs typeface="Calibri"/>
              </a:rPr>
              <a:t>0.749</a:t>
            </a:r>
          </a:p>
        </p:txBody>
      </p:sp>
      <p:sp>
        <p:nvSpPr>
          <p:cNvPr id="79" name="Text 77"/>
          <p:cNvSpPr/>
          <p:nvPr/>
        </p:nvSpPr>
        <p:spPr>
          <a:xfrm>
            <a:off x="5943600" y="3001061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1B3A6B"/>
                </a:solidFill>
                <a:latin typeface="Calibri"/>
                <a:ea typeface="Calibri"/>
                <a:cs typeface="Calibri"/>
              </a:rPr>
              <a:t>0.750</a:t>
            </a:r>
            <a:endParaRPr lang="en-US" sz="750" i="1">
              <a:solidFill>
                <a:srgbClr val="1B3A6B"/>
              </a:solidFill>
              <a:ea typeface="Calibri"/>
              <a:cs typeface="Calibri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7040880" y="3001061"/>
            <a:ext cx="100584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i="1">
                <a:solidFill>
                  <a:srgbClr val="1B7A3E"/>
                </a:solidFill>
                <a:ea typeface="Calibri"/>
                <a:cs typeface="Calibri"/>
              </a:rPr>
              <a:t>Pass</a:t>
            </a:r>
          </a:p>
        </p:txBody>
      </p:sp>
      <p:sp>
        <p:nvSpPr>
          <p:cNvPr id="81" name="Text 79"/>
          <p:cNvSpPr/>
          <p:nvPr/>
        </p:nvSpPr>
        <p:spPr>
          <a:xfrm>
            <a:off x="8092440" y="3001061"/>
            <a:ext cx="8229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i="1">
                <a:solidFill>
                  <a:srgbClr val="1B7A3E"/>
                </a:solidFill>
                <a:ea typeface="Calibri"/>
                <a:cs typeface="Calibri"/>
              </a:rPr>
              <a:t>Met</a:t>
            </a:r>
          </a:p>
        </p:txBody>
      </p:sp>
      <p:sp>
        <p:nvSpPr>
          <p:cNvPr id="82" name="Shape 80"/>
          <p:cNvSpPr/>
          <p:nvPr/>
        </p:nvSpPr>
        <p:spPr>
          <a:xfrm>
            <a:off x="228600" y="3168396"/>
            <a:ext cx="8686800" cy="194767"/>
          </a:xfrm>
          <a:prstGeom prst="rect">
            <a:avLst/>
          </a:prstGeom>
          <a:solidFill>
            <a:srgbClr val="F0FAF0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274320" y="3195828"/>
            <a:ext cx="132588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Premise 360 — Homepage</a:t>
            </a:r>
            <a:endParaRPr lang="en-US" sz="850"/>
          </a:p>
        </p:txBody>
      </p:sp>
      <p:sp>
        <p:nvSpPr>
          <p:cNvPr id="84" name="Text 82"/>
          <p:cNvSpPr/>
          <p:nvPr/>
        </p:nvSpPr>
        <p:spPr>
          <a:xfrm>
            <a:off x="1691640" y="3195828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0.588s</a:t>
            </a:r>
            <a:endParaRPr lang="en-US" sz="850"/>
          </a:p>
        </p:txBody>
      </p:sp>
      <p:sp>
        <p:nvSpPr>
          <p:cNvPr id="85" name="Text 83"/>
          <p:cNvSpPr/>
          <p:nvPr/>
        </p:nvSpPr>
        <p:spPr>
          <a:xfrm>
            <a:off x="2788920" y="3195828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0.684s</a:t>
            </a:r>
            <a:endParaRPr lang="en-US" sz="850"/>
          </a:p>
        </p:txBody>
      </p:sp>
      <p:sp>
        <p:nvSpPr>
          <p:cNvPr id="86" name="Text 84"/>
          <p:cNvSpPr/>
          <p:nvPr/>
        </p:nvSpPr>
        <p:spPr>
          <a:xfrm>
            <a:off x="3886200" y="3195828"/>
            <a:ext cx="91440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50"/>
          </a:p>
        </p:txBody>
      </p:sp>
      <p:sp>
        <p:nvSpPr>
          <p:cNvPr id="87" name="Text 85"/>
          <p:cNvSpPr/>
          <p:nvPr/>
        </p:nvSpPr>
        <p:spPr>
          <a:xfrm>
            <a:off x="4846320" y="3195828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i="1">
                <a:solidFill>
                  <a:srgbClr val="1B3A6B"/>
                </a:solidFill>
                <a:ea typeface="Calibri"/>
                <a:cs typeface="Calibri"/>
              </a:rPr>
              <a:t>0.634</a:t>
            </a:r>
          </a:p>
        </p:txBody>
      </p:sp>
      <p:sp>
        <p:nvSpPr>
          <p:cNvPr id="88" name="Text 86"/>
          <p:cNvSpPr/>
          <p:nvPr/>
        </p:nvSpPr>
        <p:spPr>
          <a:xfrm>
            <a:off x="5943600" y="3195828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1B3A6B"/>
                </a:solidFill>
                <a:ea typeface="Calibri"/>
                <a:cs typeface="Calibri"/>
              </a:rPr>
              <a:t>0.751</a:t>
            </a:r>
          </a:p>
        </p:txBody>
      </p:sp>
      <p:sp>
        <p:nvSpPr>
          <p:cNvPr id="89" name="Text 87"/>
          <p:cNvSpPr/>
          <p:nvPr/>
        </p:nvSpPr>
        <p:spPr>
          <a:xfrm>
            <a:off x="7040880" y="3195828"/>
            <a:ext cx="100584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i="1">
                <a:solidFill>
                  <a:srgbClr val="1B7A3E"/>
                </a:solidFill>
                <a:ea typeface="Calibri"/>
                <a:cs typeface="Calibri"/>
              </a:rPr>
              <a:t>Pass</a:t>
            </a:r>
          </a:p>
        </p:txBody>
      </p:sp>
      <p:sp>
        <p:nvSpPr>
          <p:cNvPr id="90" name="Text 88"/>
          <p:cNvSpPr/>
          <p:nvPr/>
        </p:nvSpPr>
        <p:spPr>
          <a:xfrm>
            <a:off x="8092440" y="3195828"/>
            <a:ext cx="8229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i="1">
                <a:solidFill>
                  <a:srgbClr val="1B7A3E"/>
                </a:solidFill>
                <a:ea typeface="Calibri"/>
                <a:cs typeface="Calibri"/>
              </a:rPr>
              <a:t>Met</a:t>
            </a:r>
          </a:p>
        </p:txBody>
      </p:sp>
      <p:sp>
        <p:nvSpPr>
          <p:cNvPr id="91" name="Shape 89"/>
          <p:cNvSpPr/>
          <p:nvPr/>
        </p:nvSpPr>
        <p:spPr>
          <a:xfrm>
            <a:off x="228600" y="3363163"/>
            <a:ext cx="8686800" cy="194767"/>
          </a:xfrm>
          <a:prstGeom prst="rect">
            <a:avLst/>
          </a:prstGeom>
          <a:solidFill>
            <a:srgbClr val="F0FAF0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274320" y="3390595"/>
            <a:ext cx="132588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Premise 360 — Search</a:t>
            </a:r>
            <a:endParaRPr lang="en-US" sz="850"/>
          </a:p>
        </p:txBody>
      </p:sp>
      <p:sp>
        <p:nvSpPr>
          <p:cNvPr id="93" name="Text 91"/>
          <p:cNvSpPr/>
          <p:nvPr/>
        </p:nvSpPr>
        <p:spPr>
          <a:xfrm>
            <a:off x="1691640" y="3390595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0.255s</a:t>
            </a:r>
            <a:endParaRPr lang="en-US" sz="850"/>
          </a:p>
        </p:txBody>
      </p:sp>
      <p:sp>
        <p:nvSpPr>
          <p:cNvPr id="94" name="Text 92"/>
          <p:cNvSpPr/>
          <p:nvPr/>
        </p:nvSpPr>
        <p:spPr>
          <a:xfrm>
            <a:off x="2788920" y="3390595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0.298s</a:t>
            </a:r>
            <a:endParaRPr lang="en-US" sz="850"/>
          </a:p>
        </p:txBody>
      </p:sp>
      <p:sp>
        <p:nvSpPr>
          <p:cNvPr id="95" name="Text 93"/>
          <p:cNvSpPr/>
          <p:nvPr/>
        </p:nvSpPr>
        <p:spPr>
          <a:xfrm>
            <a:off x="3886200" y="3390595"/>
            <a:ext cx="91440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50"/>
          </a:p>
        </p:txBody>
      </p:sp>
      <p:sp>
        <p:nvSpPr>
          <p:cNvPr id="96" name="Text 94"/>
          <p:cNvSpPr/>
          <p:nvPr/>
        </p:nvSpPr>
        <p:spPr>
          <a:xfrm>
            <a:off x="4846320" y="3390595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i="1">
                <a:solidFill>
                  <a:srgbClr val="1B3A6B"/>
                </a:solidFill>
                <a:ea typeface="Calibri"/>
                <a:cs typeface="Calibri"/>
              </a:rPr>
              <a:t>0.246</a:t>
            </a:r>
          </a:p>
        </p:txBody>
      </p:sp>
      <p:sp>
        <p:nvSpPr>
          <p:cNvPr id="97" name="Text 95"/>
          <p:cNvSpPr/>
          <p:nvPr/>
        </p:nvSpPr>
        <p:spPr>
          <a:xfrm>
            <a:off x="5943600" y="3390595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1B3A6B"/>
                </a:solidFill>
                <a:ea typeface="Calibri"/>
                <a:cs typeface="Calibri"/>
              </a:rPr>
              <a:t>0.315</a:t>
            </a:r>
          </a:p>
        </p:txBody>
      </p:sp>
      <p:sp>
        <p:nvSpPr>
          <p:cNvPr id="98" name="Text 96"/>
          <p:cNvSpPr/>
          <p:nvPr/>
        </p:nvSpPr>
        <p:spPr>
          <a:xfrm>
            <a:off x="7040880" y="3390595"/>
            <a:ext cx="100584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i="1">
                <a:solidFill>
                  <a:srgbClr val="1B7A3E"/>
                </a:solidFill>
                <a:ea typeface="Calibri"/>
                <a:cs typeface="Calibri"/>
              </a:rPr>
              <a:t>Pass</a:t>
            </a:r>
          </a:p>
        </p:txBody>
      </p:sp>
      <p:sp>
        <p:nvSpPr>
          <p:cNvPr id="99" name="Text 97"/>
          <p:cNvSpPr/>
          <p:nvPr/>
        </p:nvSpPr>
        <p:spPr>
          <a:xfrm>
            <a:off x="8092440" y="3390595"/>
            <a:ext cx="8229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i="1">
                <a:solidFill>
                  <a:srgbClr val="1B7A3E"/>
                </a:solidFill>
                <a:ea typeface="Calibri"/>
                <a:cs typeface="Calibri"/>
              </a:rPr>
              <a:t>Met</a:t>
            </a:r>
          </a:p>
        </p:txBody>
      </p:sp>
      <p:sp>
        <p:nvSpPr>
          <p:cNvPr id="100" name="Shape 98"/>
          <p:cNvSpPr/>
          <p:nvPr/>
        </p:nvSpPr>
        <p:spPr>
          <a:xfrm>
            <a:off x="228600" y="3557930"/>
            <a:ext cx="8686800" cy="194767"/>
          </a:xfrm>
          <a:prstGeom prst="rect">
            <a:avLst/>
          </a:prstGeom>
          <a:solidFill>
            <a:srgbClr val="FFEBEE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274320" y="3585362"/>
            <a:ext cx="132588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Premise 360 Page</a:t>
            </a:r>
            <a:endParaRPr lang="en-US" sz="850"/>
          </a:p>
        </p:txBody>
      </p:sp>
      <p:sp>
        <p:nvSpPr>
          <p:cNvPr id="102" name="Text 100"/>
          <p:cNvSpPr/>
          <p:nvPr/>
        </p:nvSpPr>
        <p:spPr>
          <a:xfrm>
            <a:off x="1691640" y="3585362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22.880s</a:t>
            </a:r>
            <a:endParaRPr lang="en-US" sz="850"/>
          </a:p>
        </p:txBody>
      </p:sp>
      <p:sp>
        <p:nvSpPr>
          <p:cNvPr id="103" name="Text 101"/>
          <p:cNvSpPr/>
          <p:nvPr/>
        </p:nvSpPr>
        <p:spPr>
          <a:xfrm>
            <a:off x="2788920" y="3585362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48.493s</a:t>
            </a:r>
            <a:endParaRPr lang="en-US" sz="850"/>
          </a:p>
        </p:txBody>
      </p:sp>
      <p:sp>
        <p:nvSpPr>
          <p:cNvPr id="104" name="Text 102"/>
          <p:cNvSpPr/>
          <p:nvPr/>
        </p:nvSpPr>
        <p:spPr>
          <a:xfrm>
            <a:off x="3886200" y="3585362"/>
            <a:ext cx="91440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850"/>
          </a:p>
        </p:txBody>
      </p:sp>
      <p:sp>
        <p:nvSpPr>
          <p:cNvPr id="105" name="Text 103"/>
          <p:cNvSpPr/>
          <p:nvPr/>
        </p:nvSpPr>
        <p:spPr>
          <a:xfrm>
            <a:off x="4846320" y="3585362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i="1">
                <a:solidFill>
                  <a:srgbClr val="1B3A6B"/>
                </a:solidFill>
                <a:ea typeface="Calibri"/>
                <a:cs typeface="Calibri"/>
              </a:rPr>
              <a:t>1.983</a:t>
            </a:r>
          </a:p>
        </p:txBody>
      </p:sp>
      <p:sp>
        <p:nvSpPr>
          <p:cNvPr id="106" name="Text 104"/>
          <p:cNvSpPr/>
          <p:nvPr/>
        </p:nvSpPr>
        <p:spPr>
          <a:xfrm>
            <a:off x="5943600" y="3585362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1B3A6B"/>
                </a:solidFill>
                <a:ea typeface="Calibri"/>
                <a:cs typeface="Calibri"/>
              </a:rPr>
              <a:t>2.332</a:t>
            </a:r>
          </a:p>
        </p:txBody>
      </p:sp>
      <p:sp>
        <p:nvSpPr>
          <p:cNvPr id="107" name="Text 105"/>
          <p:cNvSpPr/>
          <p:nvPr/>
        </p:nvSpPr>
        <p:spPr>
          <a:xfrm>
            <a:off x="7040880" y="3585362"/>
            <a:ext cx="100584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i="1">
                <a:solidFill>
                  <a:srgbClr val="1B7A3E"/>
                </a:solidFill>
                <a:ea typeface="Calibri"/>
                <a:cs typeface="Calibri"/>
              </a:rPr>
              <a:t>Pass</a:t>
            </a:r>
          </a:p>
        </p:txBody>
      </p:sp>
      <p:sp>
        <p:nvSpPr>
          <p:cNvPr id="108" name="Text 106"/>
          <p:cNvSpPr/>
          <p:nvPr/>
        </p:nvSpPr>
        <p:spPr>
          <a:xfrm>
            <a:off x="8092440" y="3585362"/>
            <a:ext cx="8229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i="1">
                <a:solidFill>
                  <a:srgbClr val="1B7A3E"/>
                </a:solidFill>
                <a:ea typeface="Calibri"/>
                <a:cs typeface="Calibri"/>
              </a:rPr>
              <a:t>Met</a:t>
            </a:r>
          </a:p>
        </p:txBody>
      </p:sp>
      <p:sp>
        <p:nvSpPr>
          <p:cNvPr id="109" name="Shape 107"/>
          <p:cNvSpPr/>
          <p:nvPr/>
        </p:nvSpPr>
        <p:spPr>
          <a:xfrm>
            <a:off x="228600" y="3752698"/>
            <a:ext cx="8686800" cy="194767"/>
          </a:xfrm>
          <a:prstGeom prst="rect">
            <a:avLst/>
          </a:prstGeom>
          <a:solidFill>
            <a:srgbClr val="EDF7EE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274320" y="3780130"/>
            <a:ext cx="132588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360 — Login</a:t>
            </a:r>
            <a:endParaRPr lang="en-US" sz="850"/>
          </a:p>
        </p:txBody>
      </p:sp>
      <p:sp>
        <p:nvSpPr>
          <p:cNvPr id="111" name="Text 109"/>
          <p:cNvSpPr/>
          <p:nvPr/>
        </p:nvSpPr>
        <p:spPr>
          <a:xfrm>
            <a:off x="1691640" y="3780130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0.680s</a:t>
            </a:r>
            <a:endParaRPr lang="en-US" sz="850"/>
          </a:p>
        </p:txBody>
      </p:sp>
      <p:sp>
        <p:nvSpPr>
          <p:cNvPr id="112" name="Text 110"/>
          <p:cNvSpPr/>
          <p:nvPr/>
        </p:nvSpPr>
        <p:spPr>
          <a:xfrm>
            <a:off x="2788920" y="3780130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0.705s</a:t>
            </a:r>
            <a:endParaRPr lang="en-US" sz="850"/>
          </a:p>
        </p:txBody>
      </p:sp>
      <p:sp>
        <p:nvSpPr>
          <p:cNvPr id="113" name="Text 111"/>
          <p:cNvSpPr/>
          <p:nvPr/>
        </p:nvSpPr>
        <p:spPr>
          <a:xfrm>
            <a:off x="3886200" y="3780130"/>
            <a:ext cx="91440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50"/>
          </a:p>
        </p:txBody>
      </p:sp>
      <p:sp>
        <p:nvSpPr>
          <p:cNvPr id="114" name="Text 112"/>
          <p:cNvSpPr/>
          <p:nvPr/>
        </p:nvSpPr>
        <p:spPr>
          <a:xfrm>
            <a:off x="4846320" y="3780130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i="1">
                <a:solidFill>
                  <a:srgbClr val="1B3A6B"/>
                </a:solidFill>
                <a:ea typeface="Calibri"/>
                <a:cs typeface="Calibri"/>
              </a:rPr>
              <a:t>0.591</a:t>
            </a:r>
            <a:endParaRPr lang="en-US" sz="750" i="1" dirty="0">
              <a:solidFill>
                <a:srgbClr val="1B3A6B"/>
              </a:solidFill>
              <a:ea typeface="Calibri"/>
              <a:cs typeface="Calibri"/>
            </a:endParaRPr>
          </a:p>
        </p:txBody>
      </p:sp>
      <p:sp>
        <p:nvSpPr>
          <p:cNvPr id="115" name="Text 113"/>
          <p:cNvSpPr/>
          <p:nvPr/>
        </p:nvSpPr>
        <p:spPr>
          <a:xfrm>
            <a:off x="5943600" y="3780130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1B3A6B"/>
                </a:solidFill>
                <a:ea typeface="Calibri"/>
                <a:cs typeface="Calibri"/>
              </a:rPr>
              <a:t>0.701</a:t>
            </a:r>
            <a:endParaRPr lang="en-US" sz="750" i="1" dirty="0">
              <a:solidFill>
                <a:srgbClr val="1B3A6B"/>
              </a:solidFill>
              <a:ea typeface="Calibri"/>
              <a:cs typeface="Calibri"/>
            </a:endParaRPr>
          </a:p>
        </p:txBody>
      </p:sp>
      <p:sp>
        <p:nvSpPr>
          <p:cNvPr id="116" name="Text 114"/>
          <p:cNvSpPr/>
          <p:nvPr/>
        </p:nvSpPr>
        <p:spPr>
          <a:xfrm>
            <a:off x="7040880" y="3780130"/>
            <a:ext cx="100584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i="1">
                <a:solidFill>
                  <a:srgbClr val="1B7A3E"/>
                </a:solidFill>
                <a:ea typeface="Calibri"/>
                <a:cs typeface="Calibri"/>
              </a:rPr>
              <a:t>Pass</a:t>
            </a:r>
            <a:endParaRPr lang="en-US" sz="750" i="1" dirty="0">
              <a:solidFill>
                <a:srgbClr val="1B7A3E"/>
              </a:solidFill>
              <a:ea typeface="Calibri"/>
              <a:cs typeface="Calibri"/>
            </a:endParaRPr>
          </a:p>
        </p:txBody>
      </p:sp>
      <p:sp>
        <p:nvSpPr>
          <p:cNvPr id="117" name="Text 115"/>
          <p:cNvSpPr/>
          <p:nvPr/>
        </p:nvSpPr>
        <p:spPr>
          <a:xfrm>
            <a:off x="8092440" y="3780130"/>
            <a:ext cx="8229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i="1">
                <a:solidFill>
                  <a:srgbClr val="1B7A3E"/>
                </a:solidFill>
                <a:ea typeface="Calibri"/>
                <a:cs typeface="Calibri"/>
              </a:rPr>
              <a:t>Met</a:t>
            </a:r>
            <a:endParaRPr lang="en-US" sz="750" i="1" dirty="0">
              <a:solidFill>
                <a:srgbClr val="1B7A3E"/>
              </a:solidFill>
              <a:ea typeface="Calibri"/>
              <a:cs typeface="Calibri"/>
            </a:endParaRPr>
          </a:p>
        </p:txBody>
      </p:sp>
      <p:sp>
        <p:nvSpPr>
          <p:cNvPr id="118" name="Shape 116"/>
          <p:cNvSpPr/>
          <p:nvPr/>
        </p:nvSpPr>
        <p:spPr>
          <a:xfrm>
            <a:off x="228600" y="3947465"/>
            <a:ext cx="8686800" cy="194767"/>
          </a:xfrm>
          <a:prstGeom prst="rect">
            <a:avLst/>
          </a:prstGeom>
          <a:solidFill>
            <a:srgbClr val="EDF7EE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274320" y="3974897"/>
            <a:ext cx="132588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360 — Homepage</a:t>
            </a:r>
            <a:endParaRPr lang="en-US" sz="850"/>
          </a:p>
        </p:txBody>
      </p:sp>
      <p:sp>
        <p:nvSpPr>
          <p:cNvPr id="120" name="Text 118"/>
          <p:cNvSpPr/>
          <p:nvPr/>
        </p:nvSpPr>
        <p:spPr>
          <a:xfrm>
            <a:off x="1691640" y="3974897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0.588s</a:t>
            </a:r>
            <a:endParaRPr lang="en-US" sz="850"/>
          </a:p>
        </p:txBody>
      </p:sp>
      <p:sp>
        <p:nvSpPr>
          <p:cNvPr id="121" name="Text 119"/>
          <p:cNvSpPr/>
          <p:nvPr/>
        </p:nvSpPr>
        <p:spPr>
          <a:xfrm>
            <a:off x="2788920" y="3974897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0.684s</a:t>
            </a:r>
            <a:endParaRPr lang="en-US" sz="850"/>
          </a:p>
        </p:txBody>
      </p:sp>
      <p:sp>
        <p:nvSpPr>
          <p:cNvPr id="122" name="Text 120"/>
          <p:cNvSpPr/>
          <p:nvPr/>
        </p:nvSpPr>
        <p:spPr>
          <a:xfrm>
            <a:off x="3886200" y="3974897"/>
            <a:ext cx="91440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50"/>
          </a:p>
        </p:txBody>
      </p:sp>
      <p:sp>
        <p:nvSpPr>
          <p:cNvPr id="123" name="Text 121"/>
          <p:cNvSpPr/>
          <p:nvPr/>
        </p:nvSpPr>
        <p:spPr>
          <a:xfrm>
            <a:off x="4846320" y="3974897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i="1">
                <a:solidFill>
                  <a:srgbClr val="1B3A6B"/>
                </a:solidFill>
                <a:ea typeface="Calibri"/>
                <a:cs typeface="Calibri"/>
              </a:rPr>
              <a:t>0.571</a:t>
            </a:r>
            <a:endParaRPr lang="en-US" sz="750" i="1" dirty="0">
              <a:solidFill>
                <a:srgbClr val="1B3A6B"/>
              </a:solidFill>
              <a:ea typeface="Calibri"/>
              <a:cs typeface="Calibri"/>
            </a:endParaRPr>
          </a:p>
        </p:txBody>
      </p:sp>
      <p:sp>
        <p:nvSpPr>
          <p:cNvPr id="124" name="Text 122"/>
          <p:cNvSpPr/>
          <p:nvPr/>
        </p:nvSpPr>
        <p:spPr>
          <a:xfrm>
            <a:off x="5943600" y="3974897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1B3A6B"/>
                </a:solidFill>
                <a:ea typeface="Calibri"/>
                <a:cs typeface="Calibri"/>
              </a:rPr>
              <a:t>0.712</a:t>
            </a:r>
            <a:endParaRPr lang="en-US" sz="750" i="1" dirty="0">
              <a:solidFill>
                <a:srgbClr val="1B3A6B"/>
              </a:solidFill>
              <a:ea typeface="Calibri"/>
              <a:cs typeface="Calibri"/>
            </a:endParaRPr>
          </a:p>
        </p:txBody>
      </p:sp>
      <p:sp>
        <p:nvSpPr>
          <p:cNvPr id="125" name="Text 123"/>
          <p:cNvSpPr/>
          <p:nvPr/>
        </p:nvSpPr>
        <p:spPr>
          <a:xfrm>
            <a:off x="7040880" y="3974897"/>
            <a:ext cx="100584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i="1">
                <a:solidFill>
                  <a:srgbClr val="1B7A3E"/>
                </a:solidFill>
                <a:latin typeface="Calibri"/>
                <a:ea typeface="Calibri"/>
                <a:cs typeface="Calibri"/>
              </a:rPr>
              <a:t>Pass</a:t>
            </a:r>
            <a:endParaRPr lang="en-US" sz="750" i="1">
              <a:solidFill>
                <a:srgbClr val="1B7A3E"/>
              </a:solidFill>
              <a:ea typeface="Calibri"/>
              <a:cs typeface="Calibri"/>
            </a:endParaRPr>
          </a:p>
        </p:txBody>
      </p:sp>
      <p:sp>
        <p:nvSpPr>
          <p:cNvPr id="126" name="Text 124"/>
          <p:cNvSpPr/>
          <p:nvPr/>
        </p:nvSpPr>
        <p:spPr>
          <a:xfrm>
            <a:off x="8092440" y="3974897"/>
            <a:ext cx="8229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i="1">
                <a:solidFill>
                  <a:srgbClr val="1B7A3E"/>
                </a:solidFill>
                <a:ea typeface="Calibri"/>
                <a:cs typeface="Calibri"/>
              </a:rPr>
              <a:t>Met</a:t>
            </a:r>
            <a:endParaRPr lang="en-US" sz="750" i="1" dirty="0">
              <a:solidFill>
                <a:srgbClr val="1B7A3E"/>
              </a:solidFill>
              <a:ea typeface="Calibri"/>
              <a:cs typeface="Calibri"/>
            </a:endParaRPr>
          </a:p>
        </p:txBody>
      </p:sp>
      <p:sp>
        <p:nvSpPr>
          <p:cNvPr id="127" name="Shape 125"/>
          <p:cNvSpPr/>
          <p:nvPr/>
        </p:nvSpPr>
        <p:spPr>
          <a:xfrm>
            <a:off x="228600" y="4142232"/>
            <a:ext cx="8686800" cy="194767"/>
          </a:xfrm>
          <a:prstGeom prst="rect">
            <a:avLst/>
          </a:prstGeom>
          <a:solidFill>
            <a:srgbClr val="EDF7EE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126"/>
          <p:cNvSpPr/>
          <p:nvPr/>
        </p:nvSpPr>
        <p:spPr>
          <a:xfrm>
            <a:off x="274320" y="4169664"/>
            <a:ext cx="132588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360 — Search</a:t>
            </a:r>
            <a:endParaRPr lang="en-US" sz="850"/>
          </a:p>
        </p:txBody>
      </p:sp>
      <p:sp>
        <p:nvSpPr>
          <p:cNvPr id="129" name="Text 127"/>
          <p:cNvSpPr/>
          <p:nvPr/>
        </p:nvSpPr>
        <p:spPr>
          <a:xfrm>
            <a:off x="1691640" y="4169664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0.164s</a:t>
            </a:r>
            <a:endParaRPr lang="en-US" sz="850"/>
          </a:p>
        </p:txBody>
      </p:sp>
      <p:sp>
        <p:nvSpPr>
          <p:cNvPr id="130" name="Text 128"/>
          <p:cNvSpPr/>
          <p:nvPr/>
        </p:nvSpPr>
        <p:spPr>
          <a:xfrm>
            <a:off x="2788920" y="4169664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0.196s</a:t>
            </a:r>
            <a:endParaRPr lang="en-US" sz="850"/>
          </a:p>
        </p:txBody>
      </p:sp>
      <p:sp>
        <p:nvSpPr>
          <p:cNvPr id="131" name="Text 129"/>
          <p:cNvSpPr/>
          <p:nvPr/>
        </p:nvSpPr>
        <p:spPr>
          <a:xfrm>
            <a:off x="3886200" y="4169664"/>
            <a:ext cx="91440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50"/>
          </a:p>
        </p:txBody>
      </p:sp>
      <p:sp>
        <p:nvSpPr>
          <p:cNvPr id="132" name="Text 130"/>
          <p:cNvSpPr/>
          <p:nvPr/>
        </p:nvSpPr>
        <p:spPr>
          <a:xfrm>
            <a:off x="4846320" y="4169664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i="1">
                <a:solidFill>
                  <a:srgbClr val="1B3A6B"/>
                </a:solidFill>
                <a:latin typeface="Calibri"/>
                <a:ea typeface="Calibri"/>
                <a:cs typeface="Calibri"/>
              </a:rPr>
              <a:t>0.164</a:t>
            </a:r>
            <a:endParaRPr lang="en-US" sz="750" i="1">
              <a:solidFill>
                <a:srgbClr val="1B3A6B"/>
              </a:solidFill>
              <a:ea typeface="Calibri"/>
              <a:cs typeface="Calibri"/>
            </a:endParaRPr>
          </a:p>
        </p:txBody>
      </p:sp>
      <p:sp>
        <p:nvSpPr>
          <p:cNvPr id="133" name="Text 131"/>
          <p:cNvSpPr/>
          <p:nvPr/>
        </p:nvSpPr>
        <p:spPr>
          <a:xfrm>
            <a:off x="5943600" y="4169664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1B3A6B"/>
                </a:solidFill>
                <a:ea typeface="Calibri"/>
                <a:cs typeface="Calibri"/>
              </a:rPr>
              <a:t>0.212</a:t>
            </a:r>
            <a:endParaRPr lang="en-US" sz="750" i="1" dirty="0">
              <a:solidFill>
                <a:srgbClr val="1B3A6B"/>
              </a:solidFill>
              <a:ea typeface="Calibri"/>
              <a:cs typeface="Calibri"/>
            </a:endParaRPr>
          </a:p>
        </p:txBody>
      </p:sp>
      <p:sp>
        <p:nvSpPr>
          <p:cNvPr id="134" name="Text 132"/>
          <p:cNvSpPr/>
          <p:nvPr/>
        </p:nvSpPr>
        <p:spPr>
          <a:xfrm>
            <a:off x="7040880" y="4169664"/>
            <a:ext cx="100584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i="1">
                <a:solidFill>
                  <a:srgbClr val="1B7A3E"/>
                </a:solidFill>
                <a:ea typeface="Calibri"/>
                <a:cs typeface="Calibri"/>
              </a:rPr>
              <a:t>Pass</a:t>
            </a:r>
            <a:endParaRPr lang="en-US" sz="750" i="1" dirty="0">
              <a:solidFill>
                <a:srgbClr val="1B7A3E"/>
              </a:solidFill>
              <a:ea typeface="Calibri"/>
              <a:cs typeface="Calibri"/>
            </a:endParaRPr>
          </a:p>
        </p:txBody>
      </p:sp>
      <p:sp>
        <p:nvSpPr>
          <p:cNvPr id="135" name="Text 133"/>
          <p:cNvSpPr/>
          <p:nvPr/>
        </p:nvSpPr>
        <p:spPr>
          <a:xfrm>
            <a:off x="8092440" y="4169664"/>
            <a:ext cx="8229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i="1">
                <a:solidFill>
                  <a:srgbClr val="1B7A3E"/>
                </a:solidFill>
                <a:ea typeface="Calibri"/>
                <a:cs typeface="Calibri"/>
              </a:rPr>
              <a:t>Met</a:t>
            </a:r>
            <a:endParaRPr lang="en-US" sz="750" i="1" dirty="0">
              <a:solidFill>
                <a:srgbClr val="1B7A3E"/>
              </a:solidFill>
              <a:ea typeface="Calibri"/>
              <a:cs typeface="Calibri"/>
            </a:endParaRPr>
          </a:p>
        </p:txBody>
      </p:sp>
      <p:sp>
        <p:nvSpPr>
          <p:cNvPr id="136" name="Shape 134"/>
          <p:cNvSpPr/>
          <p:nvPr/>
        </p:nvSpPr>
        <p:spPr>
          <a:xfrm>
            <a:off x="228600" y="4336999"/>
            <a:ext cx="8686800" cy="194767"/>
          </a:xfrm>
          <a:prstGeom prst="rect">
            <a:avLst/>
          </a:prstGeom>
          <a:solidFill>
            <a:srgbClr val="FFEBEE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35"/>
          <p:cNvSpPr/>
          <p:nvPr/>
        </p:nvSpPr>
        <p:spPr>
          <a:xfrm>
            <a:off x="274320" y="4364431"/>
            <a:ext cx="132588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360 Page</a:t>
            </a:r>
            <a:endParaRPr lang="en-US" sz="850"/>
          </a:p>
        </p:txBody>
      </p:sp>
      <p:sp>
        <p:nvSpPr>
          <p:cNvPr id="138" name="Text 136"/>
          <p:cNvSpPr/>
          <p:nvPr/>
        </p:nvSpPr>
        <p:spPr>
          <a:xfrm>
            <a:off x="1691640" y="4364431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14.130s</a:t>
            </a:r>
            <a:endParaRPr lang="en-US" sz="850"/>
          </a:p>
        </p:txBody>
      </p:sp>
      <p:sp>
        <p:nvSpPr>
          <p:cNvPr id="139" name="Text 137"/>
          <p:cNvSpPr/>
          <p:nvPr/>
        </p:nvSpPr>
        <p:spPr>
          <a:xfrm>
            <a:off x="2788920" y="4364431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27.719s</a:t>
            </a:r>
            <a:endParaRPr lang="en-US" sz="850"/>
          </a:p>
        </p:txBody>
      </p:sp>
      <p:sp>
        <p:nvSpPr>
          <p:cNvPr id="140" name="Text 138"/>
          <p:cNvSpPr/>
          <p:nvPr/>
        </p:nvSpPr>
        <p:spPr>
          <a:xfrm>
            <a:off x="3886200" y="4364431"/>
            <a:ext cx="91440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850"/>
          </a:p>
        </p:txBody>
      </p:sp>
      <p:sp>
        <p:nvSpPr>
          <p:cNvPr id="141" name="Text 139"/>
          <p:cNvSpPr/>
          <p:nvPr/>
        </p:nvSpPr>
        <p:spPr>
          <a:xfrm>
            <a:off x="4846320" y="4364431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i="1">
                <a:solidFill>
                  <a:srgbClr val="1B3A6B"/>
                </a:solidFill>
                <a:ea typeface="Calibri"/>
                <a:cs typeface="Calibri"/>
              </a:rPr>
              <a:t>2.777</a:t>
            </a:r>
            <a:endParaRPr lang="en-US" sz="750" i="1" dirty="0">
              <a:solidFill>
                <a:srgbClr val="1B3A6B"/>
              </a:solidFill>
              <a:ea typeface="Calibri"/>
              <a:cs typeface="Calibri"/>
            </a:endParaRPr>
          </a:p>
        </p:txBody>
      </p:sp>
      <p:sp>
        <p:nvSpPr>
          <p:cNvPr id="142" name="Text 140"/>
          <p:cNvSpPr/>
          <p:nvPr/>
        </p:nvSpPr>
        <p:spPr>
          <a:xfrm>
            <a:off x="5943600" y="4364431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1B3A6B"/>
                </a:solidFill>
                <a:ea typeface="Calibri"/>
                <a:cs typeface="Calibri"/>
              </a:rPr>
              <a:t>4.230</a:t>
            </a:r>
            <a:endParaRPr lang="en-US" sz="750" i="1" dirty="0">
              <a:solidFill>
                <a:srgbClr val="1B3A6B"/>
              </a:solidFill>
              <a:ea typeface="Calibri"/>
              <a:cs typeface="Calibri"/>
            </a:endParaRPr>
          </a:p>
        </p:txBody>
      </p:sp>
      <p:sp>
        <p:nvSpPr>
          <p:cNvPr id="143" name="Text 141"/>
          <p:cNvSpPr/>
          <p:nvPr/>
        </p:nvSpPr>
        <p:spPr>
          <a:xfrm>
            <a:off x="7040880" y="4364431"/>
            <a:ext cx="100584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i="1">
                <a:solidFill>
                  <a:srgbClr val="1B7A3E"/>
                </a:solidFill>
                <a:ea typeface="Calibri"/>
                <a:cs typeface="Calibri"/>
              </a:rPr>
              <a:t>Pass</a:t>
            </a:r>
            <a:endParaRPr lang="en-US" sz="750" i="1" dirty="0">
              <a:solidFill>
                <a:srgbClr val="1B7A3E"/>
              </a:solidFill>
              <a:ea typeface="Calibri"/>
              <a:cs typeface="Calibri"/>
            </a:endParaRPr>
          </a:p>
        </p:txBody>
      </p:sp>
      <p:sp>
        <p:nvSpPr>
          <p:cNvPr id="144" name="Text 142"/>
          <p:cNvSpPr/>
          <p:nvPr/>
        </p:nvSpPr>
        <p:spPr>
          <a:xfrm>
            <a:off x="8092440" y="4364431"/>
            <a:ext cx="8229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i="1">
                <a:solidFill>
                  <a:srgbClr val="1B7A3E"/>
                </a:solidFill>
                <a:ea typeface="Calibri"/>
                <a:cs typeface="Calibri"/>
              </a:rPr>
              <a:t>Met</a:t>
            </a:r>
            <a:endParaRPr lang="en-US" sz="750" i="1" dirty="0">
              <a:solidFill>
                <a:srgbClr val="1B7A3E"/>
              </a:solidFill>
              <a:ea typeface="Calibri"/>
              <a:cs typeface="Calibri"/>
            </a:endParaRPr>
          </a:p>
        </p:txBody>
      </p:sp>
      <p:sp>
        <p:nvSpPr>
          <p:cNvPr id="145" name="Shape 143"/>
          <p:cNvSpPr/>
          <p:nvPr/>
        </p:nvSpPr>
        <p:spPr>
          <a:xfrm>
            <a:off x="0" y="4690872"/>
            <a:ext cx="9144000" cy="3017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 144"/>
          <p:cNvSpPr/>
          <p:nvPr/>
        </p:nvSpPr>
        <p:spPr>
          <a:xfrm>
            <a:off x="274320" y="4709160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Premise &amp; Customer 360: Resolved ✅  |  Account 360: Salesforce Omnistudio fix in progress (CRAID-3309, Sev1 raised 03/07)</a:t>
            </a:r>
            <a:endParaRPr lang="en-US" sz="950"/>
          </a:p>
        </p:txBody>
      </p:sp>
      <p:sp>
        <p:nvSpPr>
          <p:cNvPr id="147" name="Shape 145"/>
          <p:cNvSpPr/>
          <p:nvPr/>
        </p:nvSpPr>
        <p:spPr>
          <a:xfrm>
            <a:off x="0" y="5001768"/>
            <a:ext cx="9144000" cy="14630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Text 146"/>
          <p:cNvSpPr/>
          <p:nvPr/>
        </p:nvSpPr>
        <p:spPr>
          <a:xfrm>
            <a:off x="274320" y="5010912"/>
            <a:ext cx="8595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Performance Testing | IR3.1</a:t>
            </a:r>
            <a:endParaRPr lang="en-US" sz="80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76B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opAccent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EEF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/>
          <p:nvPr/>
        </p:nvSpPr>
        <p:spPr>
          <a:xfrm>
            <a:off x="548640" y="73152"/>
            <a:ext cx="6400000" cy="42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FFFFFF"/>
                </a:solidFill>
                <a:latin typeface="Calibri"/>
              </a:rPr>
              <a:t>Account 360 — Response Time Breakdown</a:t>
            </a:r>
          </a:p>
        </p:txBody>
      </p:sp>
      <p:sp>
        <p:nvSpPr>
          <p:cNvPr id="5" name="DefectBadge"/>
          <p:cNvSpPr/>
          <p:nvPr/>
        </p:nvSpPr>
        <p:spPr>
          <a:xfrm>
            <a:off x="7315200" y="128880"/>
            <a:ext cx="1645920" cy="292000"/>
          </a:xfrm>
          <a:prstGeom prst="roundRect">
            <a:avLst>
              <a:gd name="adj" fmla="val 16667"/>
            </a:avLst>
          </a:prstGeom>
          <a:solidFill>
            <a:srgbClr val="E67E22"/>
          </a:solidFill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</a:rPr>
              <a:t>CRAID-3309 Active</a:t>
            </a:r>
          </a:p>
        </p:txBody>
      </p:sp>
      <p:sp>
        <p:nvSpPr>
          <p:cNvPr id="6" name="DiagTitle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solidFill>
            <a:srgbClr val="003366"/>
          </a:solidFill>
        </p:spPr>
        <p:txBody>
          <a:bodyPr wrap="square" lIns="182880" tIns="45720" rIns="91440" bIns="45720" rtlCol="0" anchor="ctr"/>
          <a:lstStyle/>
          <a:p>
            <a:r>
              <a:rPr lang="en-US" sz="1300" b="1">
                <a:solidFill>
                  <a:srgbClr val="FFFFFF"/>
                </a:solidFill>
                <a:latin typeface="Calibri"/>
              </a:rPr>
              <a:t>End-to-End Page Load Timeline  —  Account 360  (Total: ~7-10 seconds | SLA Target: &lt;5s)</a:t>
            </a:r>
          </a:p>
        </p:txBody>
      </p:sp>
      <p:sp>
        <p:nvSpPr>
          <p:cNvPr id="7" name="TrackBase"/>
          <p:cNvSpPr/>
          <p:nvPr/>
        </p:nvSpPr>
        <p:spPr>
          <a:xfrm>
            <a:off x="1371600" y="1005840"/>
            <a:ext cx="7224480" cy="274320"/>
          </a:xfrm>
          <a:prstGeom prst="rect">
            <a:avLst/>
          </a:prstGeom>
          <a:solidFill>
            <a:srgbClr val="E0E0E0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PISegment"/>
          <p:cNvSpPr/>
          <p:nvPr/>
        </p:nvSpPr>
        <p:spPr>
          <a:xfrm>
            <a:off x="1371600" y="1005840"/>
            <a:ext cx="2889792" cy="274320"/>
          </a:xfrm>
          <a:prstGeom prst="rect">
            <a:avLst/>
          </a:prstGeom>
          <a:solidFill>
            <a:srgbClr val="27AE60"/>
          </a:solidFill>
        </p:spPr>
        <p:txBody>
          <a:bodyPr wrap="square" lIns="9144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/>
              </a:rPr>
              <a:t>API Layer: 3-4s  — On Target</a:t>
            </a:r>
          </a:p>
        </p:txBody>
      </p:sp>
      <p:sp>
        <p:nvSpPr>
          <p:cNvPr id="9" name="SFSegment"/>
          <p:cNvSpPr/>
          <p:nvPr/>
        </p:nvSpPr>
        <p:spPr>
          <a:xfrm>
            <a:off x="4261392" y="1005840"/>
            <a:ext cx="3334688" cy="274320"/>
          </a:xfrm>
          <a:prstGeom prst="rect">
            <a:avLst/>
          </a:prstGeom>
          <a:solidFill>
            <a:srgbClr val="E67E22"/>
          </a:solidFill>
        </p:spPr>
        <p:txBody>
          <a:bodyPr wrap="square" lIns="9144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/>
              </a:rPr>
              <a:t>SF Omnistudio: 3-6s  — In Fix</a:t>
            </a:r>
          </a:p>
        </p:txBody>
      </p:sp>
      <p:sp>
        <p:nvSpPr>
          <p:cNvPr id="10" name="SLAMarker"/>
          <p:cNvSpPr/>
          <p:nvPr/>
        </p:nvSpPr>
        <p:spPr>
          <a:xfrm>
            <a:off x="4983480" y="914400"/>
            <a:ext cx="36576" cy="548640"/>
          </a:xfrm>
          <a:prstGeom prst="rect">
            <a:avLst/>
          </a:prstGeom>
          <a:solidFill>
            <a:srgbClr val="C0392B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SLALabel"/>
          <p:cNvSpPr/>
          <p:nvPr/>
        </p:nvSpPr>
        <p:spPr>
          <a:xfrm>
            <a:off x="4754880" y="8686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algn="ctr"/>
            <a:r>
              <a:rPr lang="en-US" sz="900" b="1">
                <a:solidFill>
                  <a:srgbClr val="C0392B"/>
                </a:solidFill>
                <a:latin typeface="Calibri"/>
              </a:rPr>
              <a:t>5s SLA</a:t>
            </a:r>
          </a:p>
        </p:txBody>
      </p:sp>
      <p:sp>
        <p:nvSpPr>
          <p:cNvPr id="12" name="TimeScale"/>
          <p:cNvSpPr/>
          <p:nvPr/>
        </p:nvSpPr>
        <p:spPr>
          <a:xfrm>
            <a:off x="1371600" y="1280160"/>
            <a:ext cx="722448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sz="900">
                <a:solidFill>
                  <a:srgbClr val="888888"/>
                </a:solidFill>
                <a:latin typeface="Calibri"/>
              </a:rPr>
              <a:t>0s                    2s                    4s                    6s                    8s                   10s</a:t>
            </a:r>
          </a:p>
        </p:txBody>
      </p:sp>
      <p:sp>
        <p:nvSpPr>
          <p:cNvPr id="13" name="RowLabel"/>
          <p:cNvSpPr/>
          <p:nvPr/>
        </p:nvSpPr>
        <p:spPr>
          <a:xfrm>
            <a:off x="274320" y="1005840"/>
            <a:ext cx="1005840" cy="274320"/>
          </a:xfrm>
          <a:prstGeom prst="rect">
            <a:avLst/>
          </a:prstGeom>
          <a:noFill/>
        </p:spPr>
        <p:txBody>
          <a:bodyPr wrap="square" lIns="0" tIns="0" rIns="91440" bIns="0" rtlCol="0" anchor="ctr"/>
          <a:lstStyle/>
          <a:p>
            <a:pPr algn="r"/>
            <a:r>
              <a:rPr lang="en-US" sz="1100" b="1">
                <a:solidFill>
                  <a:srgbClr val="003366"/>
                </a:solidFill>
                <a:latin typeface="Calibri"/>
              </a:rPr>
              <a:t>Mar 6 Run</a:t>
            </a:r>
          </a:p>
        </p:txBody>
      </p:sp>
      <p:sp>
        <p:nvSpPr>
          <p:cNvPr id="14" name="APICard"/>
          <p:cNvSpPr/>
          <p:nvPr/>
        </p:nvSpPr>
        <p:spPr>
          <a:xfrm>
            <a:off x="274320" y="1462320"/>
            <a:ext cx="41148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txBody>
          <a:bodyPr wrap="square" lIns="182880" tIns="91440" rIns="182880" bIns="91440" rtlCol="0" anchor="t"/>
          <a:lstStyle/>
          <a:p>
            <a:r>
              <a:rPr lang="en-US" sz="1400" b="1">
                <a:solidFill>
                  <a:srgbClr val="27AE60"/>
                </a:solidFill>
                <a:latin typeface="Calibri"/>
              </a:rPr>
              <a:t>API Layer — Performing Well</a:t>
            </a:r>
          </a:p>
          <a:p>
            <a:pPr>
              <a:lnSpc>
                <a:spcPts val="1600"/>
              </a:lnSpc>
            </a:pPr>
            <a:r>
              <a:rPr lang="en-US" sz="1200" b="1">
                <a:solidFill>
                  <a:srgbClr val="27AE60"/>
                </a:solidFill>
                <a:latin typeface="Calibri"/>
              </a:rPr>
              <a:t>90% of API calls respond in &lt;4s</a:t>
            </a:r>
          </a:p>
          <a:p>
            <a:pPr>
              <a:lnSpc>
                <a:spcPts val="1600"/>
              </a:lnSpc>
            </a:pPr>
            <a:r>
              <a:rPr lang="en-US" sz="1200">
                <a:solidFill>
                  <a:srgbClr val="333333"/>
                </a:solidFill>
                <a:latin typeface="Calibri"/>
              </a:rPr>
              <a:t>SAP backend stabilized via CRAID-2844</a:t>
            </a:r>
          </a:p>
          <a:p>
            <a:pPr>
              <a:lnSpc>
                <a:spcPts val="1600"/>
              </a:lnSpc>
            </a:pPr>
            <a:r>
              <a:rPr lang="en-US" sz="1200">
                <a:solidFill>
                  <a:srgbClr val="333333"/>
                </a:solidFill>
                <a:latin typeface="Calibri"/>
              </a:rPr>
              <a:t>API call sequence optimized via CRAID-3304</a:t>
            </a:r>
          </a:p>
          <a:p>
            <a:pPr>
              <a:lnSpc>
                <a:spcPts val="1600"/>
              </a:lnSpc>
            </a:pPr>
            <a:r>
              <a:rPr lang="en-US" sz="1200">
                <a:solidFill>
                  <a:srgbClr val="555555"/>
                </a:solidFill>
                <a:latin typeface="Calibri"/>
              </a:rPr>
              <a:t>700 transactions executed across 100 users</a:t>
            </a:r>
          </a:p>
        </p:txBody>
      </p:sp>
      <p:sp>
        <p:nvSpPr>
          <p:cNvPr id="15" name="SFCard"/>
          <p:cNvSpPr/>
          <p:nvPr/>
        </p:nvSpPr>
        <p:spPr>
          <a:xfrm>
            <a:off x="4571040" y="1462320"/>
            <a:ext cx="4298640" cy="1828800"/>
          </a:xfrm>
          <a:prstGeom prst="rect">
            <a:avLst/>
          </a:prstGeom>
          <a:solidFill>
            <a:srgbClr val="FFF8F0"/>
          </a:solidFill>
          <a:ln w="19050">
            <a:solidFill>
              <a:srgbClr val="E67E22"/>
            </a:solidFill>
          </a:ln>
        </p:spPr>
        <p:txBody>
          <a:bodyPr wrap="square" lIns="182880" tIns="91440" rIns="182880" bIns="91440" rtlCol="0" anchor="t"/>
          <a:lstStyle/>
          <a:p>
            <a:r>
              <a:rPr lang="en-US" sz="1400" b="1">
                <a:solidFill>
                  <a:srgbClr val="E67E22"/>
                </a:solidFill>
                <a:latin typeface="Calibri"/>
              </a:rPr>
              <a:t>Salesforce Omnistudio — Being Fixed</a:t>
            </a:r>
          </a:p>
          <a:p>
            <a:pPr>
              <a:lnSpc>
                <a:spcPts val="1600"/>
              </a:lnSpc>
            </a:pPr>
            <a:r>
              <a:rPr lang="en-US" sz="1200" b="1">
                <a:solidFill>
                  <a:srgbClr val="E67E22"/>
                </a:solidFill>
                <a:latin typeface="Calibri"/>
              </a:rPr>
              <a:t>SF UI contributes 3-6s to page load time</a:t>
            </a:r>
          </a:p>
          <a:p>
            <a:pPr>
              <a:lnSpc>
                <a:spcPts val="1600"/>
              </a:lnSpc>
            </a:pPr>
            <a:r>
              <a:rPr lang="en-US" sz="1200">
                <a:solidFill>
                  <a:srgbClr val="333333"/>
                </a:solidFill>
                <a:latin typeface="Calibri"/>
              </a:rPr>
              <a:t>Root cause: Omnistudio framework rendering overhead (component-level, not code-build related)</a:t>
            </a:r>
          </a:p>
          <a:p>
            <a:pPr>
              <a:lnSpc>
                <a:spcPts val="1600"/>
              </a:lnSpc>
            </a:pPr>
            <a:r>
              <a:rPr lang="en-US" sz="1200" b="1">
                <a:solidFill>
                  <a:srgbClr val="0076BE"/>
                </a:solidFill>
                <a:latin typeface="Calibri"/>
              </a:rPr>
              <a:t>Severity 1 raised 03/07 — </a:t>
            </a:r>
            <a:r>
              <a:rPr lang="en-US" sz="1200">
                <a:solidFill>
                  <a:srgbClr val="333333"/>
                </a:solidFill>
                <a:latin typeface="Calibri"/>
              </a:rPr>
              <a:t>Salesforce architectural review underway</a:t>
            </a:r>
          </a:p>
        </p:txBody>
      </p:sp>
      <p:sp>
        <p:nvSpPr>
          <p:cNvPr id="16" name="SummaryBar"/>
          <p:cNvSpPr/>
          <p:nvPr/>
        </p:nvSpPr>
        <p:spPr>
          <a:xfrm>
            <a:off x="274320" y="3474720"/>
            <a:ext cx="8595360" cy="274320"/>
          </a:xfrm>
          <a:prstGeom prst="rect">
            <a:avLst/>
          </a:prstGeom>
          <a:solidFill>
            <a:srgbClr val="003366"/>
          </a:solidFill>
        </p:spPr>
        <p:txBody>
          <a:bodyPr wrap="square" lIns="182880" tIns="45720" rIns="91440" bIns="45720" rtlCol="0" anchor="ctr"/>
          <a:lstStyle/>
          <a:p>
            <a:r>
              <a:rPr lang="en-US" sz="1200" b="1">
                <a:solidFill>
                  <a:srgbClr val="90CAF9"/>
                </a:solidFill>
                <a:latin typeface="Calibri"/>
              </a:rPr>
              <a:t>Current Result (Mar 6): </a:t>
            </a:r>
            <a:r>
              <a:rPr lang="en-US" sz="1200">
                <a:solidFill>
                  <a:srgbClr val="FFFFFF"/>
                </a:solidFill>
                <a:latin typeface="Calibri"/>
              </a:rPr>
              <a:t>Avg 5.679s | 90th pct 7.220s  —  API On Target  |  SF Omnistudio fix in progress, targeting &lt;6.8s by Mar 11</a:t>
            </a:r>
          </a:p>
        </p:txBody>
      </p:sp>
      <p:sp>
        <p:nvSpPr>
          <p:cNvPr id="17" name="FooterBar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76BE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FooterText"/>
          <p:cNvSpPr/>
          <p:nvPr/>
        </p:nvSpPr>
        <p:spPr>
          <a:xfrm>
            <a:off x="548640" y="5038920"/>
            <a:ext cx="80467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/>
            <a:r>
              <a:rPr lang="en-US" sz="900">
                <a:solidFill>
                  <a:srgbClr val="555555"/>
                </a:solidFill>
                <a:latin typeface="Calibri"/>
              </a:rPr>
              <a:t>CRM Performance Testing | IR3.1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76B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opAccent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EEF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/>
          <p:nvPr/>
        </p:nvSpPr>
        <p:spPr>
          <a:xfrm>
            <a:off x="548640" y="91440"/>
            <a:ext cx="7200000" cy="46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FFFFFF"/>
                </a:solidFill>
                <a:latin typeface="Calibri"/>
              </a:rPr>
              <a:t>Status Update &amp; Path to Resolution</a:t>
            </a:r>
          </a:p>
        </p:txBody>
      </p:sp>
      <p:sp>
        <p:nvSpPr>
          <p:cNvPr id="5" name="Sub"/>
          <p:cNvSpPr/>
          <p:nvPr/>
        </p:nvSpPr>
        <p:spPr>
          <a:xfrm>
            <a:off x="548640" y="440000"/>
            <a:ext cx="7200000" cy="2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D6EEFF"/>
                </a:solidFill>
                <a:latin typeface="Calibri"/>
              </a:rPr>
              <a:t>CRAID-3309  |  Account 360 Omnistudio  |  As of March 10, 2026</a:t>
            </a:r>
          </a:p>
        </p:txBody>
      </p:sp>
      <p:sp>
        <p:nvSpPr>
          <p:cNvPr id="6" name="StatusBand"/>
          <p:cNvSpPr/>
          <p:nvPr/>
        </p:nvSpPr>
        <p:spPr>
          <a:xfrm>
            <a:off x="0" y="640080"/>
            <a:ext cx="9144000" cy="237744"/>
          </a:xfrm>
          <a:prstGeom prst="rect">
            <a:avLst/>
          </a:prstGeom>
          <a:solidFill>
            <a:srgbClr val="E8F4FC"/>
          </a:solidFill>
        </p:spPr>
        <p:txBody>
          <a:bodyPr wrap="square" lIns="182880" tIns="45720" rIns="91440" bIns="45720" rtlCol="0" anchor="ctr"/>
          <a:lstStyle/>
          <a:p>
            <a:r>
              <a:rPr lang="en-US" sz="1200" b="1">
                <a:solidFill>
                  <a:srgbClr val="0076BE"/>
                </a:solidFill>
                <a:latin typeface="Calibri"/>
              </a:rPr>
              <a:t>Salesforce Severity 1 raised 03/07  —  </a:t>
            </a:r>
            <a:r>
              <a:rPr lang="en-US" sz="1200">
                <a:solidFill>
                  <a:srgbClr val="333333"/>
                </a:solidFill>
                <a:latin typeface="Calibri"/>
              </a:rPr>
              <a:t>Active correspondence underway. Salesforce engineering team engaged on Omnistudio architectural fix.</a:t>
            </a:r>
          </a:p>
        </p:txBody>
      </p:sp>
      <p:sp>
        <p:nvSpPr>
          <p:cNvPr id="7" name="Card1"/>
          <p:cNvSpPr/>
          <p:nvPr/>
        </p:nvSpPr>
        <p:spPr>
          <a:xfrm>
            <a:off x="274320" y="950000"/>
            <a:ext cx="27432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txBody>
          <a:bodyPr wrap="square" lIns="182880" tIns="182880" rIns="182880" bIns="182880" rtlCol="0" anchor="t"/>
          <a:lstStyle/>
          <a:p>
            <a:r>
              <a:rPr lang="en-US" sz="1100" b="1">
                <a:solidFill>
                  <a:srgbClr val="27AE60"/>
                </a:solidFill>
                <a:latin typeface="Calibri"/>
              </a:rPr>
              <a:t>COMPLETED</a:t>
            </a:r>
          </a:p>
          <a:p>
            <a:r>
              <a:rPr lang="en-US" sz="1400" b="1">
                <a:solidFill>
                  <a:srgbClr val="003366"/>
                </a:solidFill>
                <a:latin typeface="Calibri"/>
              </a:rPr>
              <a:t>Mar 7  —  Sev1 Raised</a:t>
            </a:r>
          </a:p>
          <a:p>
            <a:pPr>
              <a:lnSpc>
                <a:spcPts val="1600"/>
              </a:lnSpc>
            </a:pPr>
            <a:r>
              <a:rPr lang="en-US" sz="1200">
                <a:solidFill>
                  <a:srgbClr val="444444"/>
                </a:solidFill>
                <a:latin typeface="Calibri"/>
              </a:rPr>
              <a:t>Severity 1 case submitted to Salesforce. Omnistudio root cause fully documented and shared with SF engineering team.</a:t>
            </a:r>
          </a:p>
        </p:txBody>
      </p:sp>
      <p:sp>
        <p:nvSpPr>
          <p:cNvPr id="8" name="Card2"/>
          <p:cNvSpPr/>
          <p:nvPr/>
        </p:nvSpPr>
        <p:spPr>
          <a:xfrm>
            <a:off x="3200400" y="950000"/>
            <a:ext cx="27432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6BE"/>
            </a:solidFill>
          </a:ln>
        </p:spPr>
        <p:txBody>
          <a:bodyPr wrap="square" lIns="182880" tIns="182880" rIns="182880" bIns="182880" rtlCol="0" anchor="t"/>
          <a:lstStyle/>
          <a:p>
            <a:r>
              <a:rPr lang="en-US" sz="1100" b="1">
                <a:solidFill>
                  <a:srgbClr val="0076BE"/>
                </a:solidFill>
                <a:latin typeface="Calibri"/>
              </a:rPr>
              <a:t>IN PROGRESS</a:t>
            </a:r>
          </a:p>
          <a:p>
            <a:r>
              <a:rPr lang="en-US" sz="1400" b="1">
                <a:solidFill>
                  <a:srgbClr val="003366"/>
                </a:solidFill>
                <a:latin typeface="Calibri"/>
              </a:rPr>
              <a:t>Mar 7-10  —  Active Fix Dev</a:t>
            </a:r>
          </a:p>
          <a:p>
            <a:pPr>
              <a:lnSpc>
                <a:spcPts val="1600"/>
              </a:lnSpc>
            </a:pPr>
            <a:r>
              <a:rPr lang="en-US" sz="1200">
                <a:solidFill>
                  <a:srgbClr val="444444"/>
                </a:solidFill>
                <a:latin typeface="Calibri"/>
              </a:rPr>
              <a:t>Ongoing correspondence with Salesforce. Architectural analysis and Omnistudio component optimization in progress. Fix being developed.</a:t>
            </a:r>
          </a:p>
        </p:txBody>
      </p:sp>
      <p:sp>
        <p:nvSpPr>
          <p:cNvPr id="9" name="Card3"/>
          <p:cNvSpPr/>
          <p:nvPr/>
        </p:nvSpPr>
        <p:spPr>
          <a:xfrm>
            <a:off x="6126480" y="950000"/>
            <a:ext cx="2743200" cy="1828800"/>
          </a:xfrm>
          <a:prstGeom prst="rect">
            <a:avLst/>
          </a:prstGeom>
          <a:solidFill>
            <a:srgbClr val="EBF5FB"/>
          </a:solidFill>
          <a:ln w="19050">
            <a:solidFill>
              <a:srgbClr val="0076BE"/>
            </a:solidFill>
          </a:ln>
        </p:spPr>
        <p:txBody>
          <a:bodyPr wrap="square" lIns="182880" tIns="182880" rIns="182880" bIns="182880" rtlCol="0" anchor="t"/>
          <a:lstStyle/>
          <a:p>
            <a:r>
              <a:rPr lang="en-US" sz="1100" b="1">
                <a:solidFill>
                  <a:srgbClr val="0076BE"/>
                </a:solidFill>
                <a:latin typeface="Calibri"/>
              </a:rPr>
              <a:t>NEXT</a:t>
            </a:r>
          </a:p>
          <a:p>
            <a:r>
              <a:rPr lang="en-US" sz="1400" b="1">
                <a:solidFill>
                  <a:srgbClr val="003366"/>
                </a:solidFill>
                <a:latin typeface="Calibri"/>
              </a:rPr>
              <a:t>Mar 11  —  Fix &amp; Validate</a:t>
            </a:r>
          </a:p>
          <a:p>
            <a:pPr>
              <a:lnSpc>
                <a:spcPts val="1600"/>
              </a:lnSpc>
            </a:pPr>
            <a:r>
              <a:rPr lang="en-US" sz="1200">
                <a:solidFill>
                  <a:srgbClr val="444444"/>
                </a:solidFill>
                <a:latin typeface="Calibri"/>
              </a:rPr>
              <a:t>Deploy Omnistudio fix, run full performance re-test. Target: Account 360 under 6.8s, CRAID-3309 closed.</a:t>
            </a:r>
          </a:p>
        </p:txBody>
      </p:sp>
      <p:sp>
        <p:nvSpPr>
          <p:cNvPr id="10" name="FooterBar"/>
          <p:cNvSpPr/>
          <p:nvPr/>
        </p:nvSpPr>
        <p:spPr>
          <a:xfrm>
            <a:off x="0" y="5211456"/>
            <a:ext cx="9144000" cy="274320"/>
          </a:xfrm>
          <a:prstGeom prst="rect">
            <a:avLst/>
          </a:prstGeom>
          <a:solidFill>
            <a:srgbClr val="0076BE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FooterText"/>
          <p:cNvSpPr/>
          <p:nvPr/>
        </p:nvSpPr>
        <p:spPr>
          <a:xfrm>
            <a:off x="548640" y="5211456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/>
            <a:r>
              <a:rPr lang="en-US" sz="900">
                <a:solidFill>
                  <a:srgbClr val="FFFFFF"/>
                </a:solidFill>
                <a:latin typeface="Calibri"/>
              </a:rPr>
              <a:t>CRM Performance Testing | IR3.1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1015</Words>
  <Application>Microsoft Office PowerPoint</Application>
  <PresentationFormat>On-screen Show (16:9)</PresentationFormat>
  <Paragraphs>218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ritesh nanda</cp:lastModifiedBy>
  <cp:revision>88</cp:revision>
  <dcterms:created xsi:type="dcterms:W3CDTF">2026-03-06T08:14:28Z</dcterms:created>
  <dcterms:modified xsi:type="dcterms:W3CDTF">2026-03-07T14:57:04Z</dcterms:modified>
</cp:coreProperties>
</file>