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7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240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38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43266"/>
          </a:solidFill>
          <a:ln w="12700">
            <a:solidFill>
              <a:srgbClr val="2432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Challenges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Classification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029200" cy="36576"/>
          </a:xfrm>
          <a:prstGeom prst="rect">
            <a:avLst/>
          </a:prstGeom>
          <a:solidFill>
            <a:srgbClr val="3A5299"/>
          </a:solidFill>
          <a:ln w="12700">
            <a:solidFill>
              <a:srgbClr val="3A52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presents a structured analysis of systemic delivery challenges observed across the XD program. Issues are classified by root cause — not symptoms.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Partners &amp; Directors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8076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Classification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788920" cy="804672"/>
          </a:xfrm>
          <a:prstGeom prst="rect">
            <a:avLst/>
          </a:prstGeom>
          <a:solidFill>
            <a:srgbClr val="1E3270"/>
          </a:solidFill>
          <a:ln w="9525">
            <a:solidFill>
              <a:srgbClr val="2D46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777240"/>
            <a:ext cx="91440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832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1072" y="1197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&amp; Culture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788920" cy="804672"/>
          </a:xfrm>
          <a:prstGeom prst="rect">
            <a:avLst/>
          </a:prstGeom>
          <a:solidFill>
            <a:srgbClr val="1E3270"/>
          </a:solidFill>
          <a:ln w="9525">
            <a:solidFill>
              <a:srgbClr val="2D46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91440" cy="8046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1837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91072" y="2203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Discipline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788920"/>
            <a:ext cx="2788920" cy="804672"/>
          </a:xfrm>
          <a:prstGeom prst="rect">
            <a:avLst/>
          </a:prstGeom>
          <a:solidFill>
            <a:srgbClr val="1E3270"/>
          </a:solidFill>
          <a:ln w="9525">
            <a:solidFill>
              <a:srgbClr val="2D46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2788920"/>
            <a:ext cx="91440" cy="8046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91072" y="2843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1072" y="3209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&amp; Tooling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794760"/>
            <a:ext cx="2788920" cy="804672"/>
          </a:xfrm>
          <a:prstGeom prst="rect">
            <a:avLst/>
          </a:prstGeom>
          <a:solidFill>
            <a:srgbClr val="1E3270"/>
          </a:solidFill>
          <a:ln w="9525">
            <a:solidFill>
              <a:srgbClr val="2D46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3794760"/>
            <a:ext cx="9144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3849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91072" y="4215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Scope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2880" y="4965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| DevOps – Root Cause Classification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0" y="4965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8887968" cy="5143500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the aggregation point.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root cause.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7955280" cy="36576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pain point ultimately routes through DevOps — but the origins span four distinct domains: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993392" cy="1920240"/>
          </a:xfrm>
          <a:prstGeom prst="rect">
            <a:avLst/>
          </a:prstGeom>
          <a:solidFill>
            <a:srgbClr val="1E3270"/>
          </a:solidFill>
          <a:ln w="9525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993392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Accountability, transparency,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engagement culture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24912" y="2788920"/>
            <a:ext cx="1993392" cy="1920240"/>
          </a:xfrm>
          <a:prstGeom prst="rect">
            <a:avLst/>
          </a:prstGeom>
          <a:solidFill>
            <a:srgbClr val="1E3270"/>
          </a:solidFill>
          <a:ln w="9525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24912" y="2788920"/>
            <a:ext cx="1993392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16352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16352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Handoffs, PR classification,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overhead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01184" y="2788920"/>
            <a:ext cx="1993392" cy="1920240"/>
          </a:xfrm>
          <a:prstGeom prst="rect">
            <a:avLst/>
          </a:prstGeom>
          <a:solidFill>
            <a:srgbClr val="1E3270"/>
          </a:solidFill>
          <a:ln w="9525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01184" y="2788920"/>
            <a:ext cx="1993392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92624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92624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lead, constrained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environments, vendor dynamics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77456" y="2788920"/>
            <a:ext cx="1993392" cy="1920240"/>
          </a:xfrm>
          <a:prstGeom prst="rect">
            <a:avLst/>
          </a:prstGeom>
          <a:solidFill>
            <a:srgbClr val="1E3270"/>
          </a:solidFill>
          <a:ln w="9525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77456" y="2788920"/>
            <a:ext cx="199339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68896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68896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model not defined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contract or planning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" y="4965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| DevOps – Root Cause Classification  | 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65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5D1F50-D249-5225-207C-FC160605C317}"/>
              </a:ext>
            </a:extLst>
          </p:cNvPr>
          <p:cNvSpPr txBox="1"/>
          <p:nvPr/>
        </p:nvSpPr>
        <p:spPr>
          <a:xfrm>
            <a:off x="2342271" y="366490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Code Issues (Dev) </a:t>
            </a:r>
          </a:p>
          <a:p>
            <a:pPr algn="ctr"/>
            <a:r>
              <a:rPr lang="en-US" dirty="0"/>
              <a:t>↓ </a:t>
            </a:r>
          </a:p>
          <a:p>
            <a:pPr algn="ctr"/>
            <a:r>
              <a:rPr lang="en-US" dirty="0"/>
              <a:t>PR Delays / Rework </a:t>
            </a:r>
          </a:p>
          <a:p>
            <a:pPr algn="ctr"/>
            <a:r>
              <a:rPr lang="en-US" dirty="0"/>
              <a:t>↓ </a:t>
            </a:r>
          </a:p>
          <a:p>
            <a:pPr algn="ctr"/>
            <a:r>
              <a:rPr lang="en-US" dirty="0"/>
              <a:t>Seen by FPL Dev Managers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 Escalated as “PR / DevOps issue”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 FPL Leadership hears: “DevOps problem” </a:t>
            </a:r>
          </a:p>
          <a:p>
            <a:pPr algn="ctr"/>
            <a:r>
              <a:rPr lang="en-US" dirty="0"/>
              <a:t>↓ </a:t>
            </a:r>
          </a:p>
          <a:p>
            <a:pPr algn="ctr"/>
            <a:r>
              <a:rPr lang="en-US" dirty="0"/>
              <a:t>PwC Leadership hears same signal </a:t>
            </a:r>
          </a:p>
          <a:p>
            <a:pPr algn="ctr"/>
            <a:r>
              <a:rPr lang="en-US" dirty="0"/>
              <a:t>↓ </a:t>
            </a:r>
          </a:p>
          <a:p>
            <a:pPr algn="ctr"/>
            <a:r>
              <a:rPr lang="en-US" dirty="0"/>
              <a:t>Pressure on DevOps </a:t>
            </a:r>
          </a:p>
          <a:p>
            <a:pPr algn="ctr"/>
            <a:r>
              <a:rPr lang="en-US" dirty="0"/>
              <a:t>↓ </a:t>
            </a:r>
          </a:p>
          <a:p>
            <a:pPr algn="ctr"/>
            <a:r>
              <a:rPr lang="en-US" dirty="0"/>
              <a:t>Actual root cause (Dev quality / readiness) remains unresolved </a:t>
            </a:r>
          </a:p>
        </p:txBody>
      </p:sp>
    </p:spTree>
    <p:extLst>
      <p:ext uri="{BB962C8B-B14F-4D97-AF65-F5344CB8AC3E}">
        <p14:creationId xmlns:p14="http://schemas.microsoft.com/office/powerpoint/2010/main" val="1895333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73152"/>
            <a:ext cx="9144000" cy="53000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ottom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97A7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457200" y="130000"/>
            <a:ext cx="82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Current DevOps Process</a:t>
            </a:r>
          </a:p>
        </p:txBody>
      </p:sp>
      <p:sp>
        <p:nvSpPr>
          <p:cNvPr id="6" name="Footer"/>
          <p:cNvSpPr/>
          <p:nvPr/>
        </p:nvSpPr>
        <p:spPr>
          <a:xfrm>
            <a:off x="457200" y="4820000"/>
            <a:ext cx="82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</a:rPr>
              <a:t>CRM DevOps | IR3.1 Process Overview</a:t>
            </a:r>
          </a:p>
        </p:txBody>
      </p:sp>
      <p:sp>
        <p:nvSpPr>
          <p:cNvPr id="10" name="Step1Box"/>
          <p:cNvSpPr/>
          <p:nvPr/>
        </p:nvSpPr>
        <p:spPr>
          <a:xfrm>
            <a:off x="457200" y="730000"/>
            <a:ext cx="2400000" cy="135000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1Content"/>
          <p:cNvSpPr/>
          <p:nvPr/>
        </p:nvSpPr>
        <p:spPr>
          <a:xfrm>
            <a:off x="510000" y="760000"/>
            <a:ext cx="2300000" cy="128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</a:rPr>
              <a:t>01  Developer</a:t>
            </a:r>
          </a:p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Mostly Atomic Feature PR</a:t>
            </a:r>
          </a:p>
          <a:p>
            <a:pPr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</a:rPr>
              <a:t>Feature Branches →</a:t>
            </a:r>
          </a:p>
          <a:p>
            <a:pPr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</a:rPr>
              <a:t>XD Test R3 </a:t>
            </a:r>
          </a:p>
          <a:p>
            <a:pPr algn="l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</a:rPr>
              <a:t>(in-sprint test env)</a:t>
            </a:r>
          </a:p>
        </p:txBody>
      </p:sp>
      <p:sp>
        <p:nvSpPr>
          <p:cNvPr id="15" name="Arr1"/>
          <p:cNvSpPr/>
          <p:nvPr/>
        </p:nvSpPr>
        <p:spPr>
          <a:xfrm>
            <a:off x="2910000" y="1330000"/>
            <a:ext cx="380000" cy="180000"/>
          </a:xfrm>
          <a:prstGeom prst="rightArrow">
            <a:avLst/>
          </a:prstGeom>
          <a:solidFill>
            <a:srgbClr val="0097A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2Box"/>
          <p:cNvSpPr/>
          <p:nvPr/>
        </p:nvSpPr>
        <p:spPr>
          <a:xfrm>
            <a:off x="3344000" y="730000"/>
            <a:ext cx="2400000" cy="135000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tep2Content"/>
          <p:cNvSpPr/>
          <p:nvPr/>
        </p:nvSpPr>
        <p:spPr>
          <a:xfrm>
            <a:off x="3400000" y="760000"/>
            <a:ext cx="2280000" cy="132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</a:rPr>
              <a:t>02  PwC DevOps</a:t>
            </a:r>
          </a:p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Combined PR + PD Steps</a:t>
            </a:r>
          </a:p>
          <a:p>
            <a:pPr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</a:rPr>
              <a:t>Combines PRs, reconciles</a:t>
            </a:r>
          </a:p>
          <a:p>
            <a:pPr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</a:rPr>
              <a:t>PD Steps → FPLSINT  </a:t>
            </a:r>
          </a:p>
          <a:p>
            <a:r>
              <a:rPr lang="en-US" sz="1100" i="1" dirty="0">
                <a:solidFill>
                  <a:srgbClr val="F48FB1"/>
                </a:solidFill>
                <a:latin typeface="Calibri" pitchFamily="34" charset="0"/>
              </a:rPr>
              <a:t>Dev Team members forcing offshore DevOps to make manual tweaks</a:t>
            </a:r>
          </a:p>
        </p:txBody>
      </p:sp>
      <p:sp>
        <p:nvSpPr>
          <p:cNvPr id="25" name="Arr2"/>
          <p:cNvSpPr/>
          <p:nvPr/>
        </p:nvSpPr>
        <p:spPr>
          <a:xfrm>
            <a:off x="5796000" y="1330000"/>
            <a:ext cx="380000" cy="180000"/>
          </a:xfrm>
          <a:prstGeom prst="rightArrow">
            <a:avLst/>
          </a:prstGeom>
          <a:solidFill>
            <a:srgbClr val="0097A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Step3Box"/>
          <p:cNvSpPr/>
          <p:nvPr/>
        </p:nvSpPr>
        <p:spPr>
          <a:xfrm>
            <a:off x="6234000" y="730000"/>
            <a:ext cx="2470000" cy="135000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tep3Content"/>
          <p:cNvSpPr/>
          <p:nvPr/>
        </p:nvSpPr>
        <p:spPr>
          <a:xfrm>
            <a:off x="6290000" y="760000"/>
            <a:ext cx="2360000" cy="128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</a:rPr>
              <a:t>03  FPL DevOps</a:t>
            </a:r>
          </a:p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Package &amp; Deploy</a:t>
            </a:r>
          </a:p>
          <a:p>
            <a:pPr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</a:rPr>
              <a:t>Batches(Builds packages) multi-project PRs</a:t>
            </a:r>
          </a:p>
          <a:p>
            <a:pPr algn="l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</a:rPr>
              <a:t>Deploys to Mainline SIT / UAT / Prod</a:t>
            </a:r>
          </a:p>
          <a:p>
            <a:pPr algn="l">
              <a:buNone/>
            </a:pPr>
            <a:r>
              <a:rPr lang="en-US" sz="1000" i="1" dirty="0">
                <a:solidFill>
                  <a:srgbClr val="F48FB1"/>
                </a:solidFill>
                <a:latin typeface="Calibri" pitchFamily="34" charset="0"/>
              </a:rPr>
              <a:t>Zero visibility for PwC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'DevOps' Becomes the Default Scapegoat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misalignment — not a capability failure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11480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CLIENT SEES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"XD is one project."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FPL leadership thinks of the entire technology landscape as a unified product. In their view, when something goes wrong anywhere in delivery — whether it's a PR delay, a failed deployment, or a missed timeline — it becomes a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issue.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has limited visibility into: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Offshore vs onsite accountability splits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Code readiness as a separate gate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Vendor-driven friction (K-Force, TCS, etc.)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Governance structural mismatches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14800" cy="42062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515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DELIVERY IS STRUCTURED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teams. 1 shared blame target.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reality, delivery runs through multiple independent workstreams — each with different incentives, managers, and accountability models: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PwC Dev (Offshore India) — code production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PwC DevOps (Onsite) — release orchestration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FPL Dev Managers — code review &amp; approval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FPL DevOps (Contractors) — env &amp; infra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Multiple external vendors — competing priorities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" y="4965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| DevOps – Root Cause Classification  | 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0" y="4965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·  People Issues: Behavior, Accountability &amp; Culture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observed across offshore team dynamics and client engagement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416052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" y="98755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Gaps — Offshore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1408176"/>
            <a:ext cx="395935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Reluctance to take end-to-end accountability without escalation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contributors diluted by low-accountability team culture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posture: waits for direction rather than proactive resolution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98755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987552"/>
            <a:ext cx="416052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6008" y="98755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Communication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6008" y="1408176"/>
            <a:ext cx="395935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surfaced late — short-term effort saving causes larger downstream delays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status communication under pressure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filtering between teams creates misaligned expectations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" y="299923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1168" y="2999232"/>
            <a:ext cx="4160520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0896" y="299923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Engagement Avoidance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" y="3419856"/>
            <a:ext cx="395935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teams avoid direct client-facing interactions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confidence leads to information distortion through proxies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"Operate in shadows" mindset — ownership not demonstrated to client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299923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26280" y="2999232"/>
            <a:ext cx="4160520" cy="36576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36008" y="299923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 with Client Intent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3419856"/>
            <a:ext cx="395935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client processes and compliance requirements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questioning of directives → execution friction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urgency and regulatory timelines not internalized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" y="4965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| DevOps – Root Cause Classification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4965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·  Process Issues: Execution Discipline &amp; Ways of Working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process failures that amplify delivery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873252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73152" cy="87782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10332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1014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Overhead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3807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meetings, parallel chat groups, and communication threads with no governance on creation, closure, or action tracking. Cognitive overload reduces team throughput and obscures real blockers.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" y="1929384"/>
            <a:ext cx="873252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" y="1929384"/>
            <a:ext cx="73152" cy="8778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" y="200253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14400" y="1984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Handoffs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3500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handoffs across teams and time zones with leads requiring excessive guidance. Low autonomy at the individual contributor level extends cycle times and diffuses accountability.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2898648"/>
            <a:ext cx="873252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" y="2898648"/>
            <a:ext cx="73152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" y="2971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4400" y="29535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Release Misclassification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31927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delays are routinely labeled as DevOps failures. Actual root causes — code readiness, review cycle gaps, and quality defects — remain unaddressed because diagnosis is wrong.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3867912"/>
            <a:ext cx="873252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1168" y="3867912"/>
            <a:ext cx="73152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" y="39410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4400" y="39227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Workstream Overload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28853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simultaneous initiatives run against an environment and pipeline not designed for parallelism. The result: resource contention, instability, and a perception that DevOps is the bottleneck.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" y="4965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| DevOps – Root Cause Classification  |  Confidential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65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·  System &amp; Structural Issues: Org Design, Architecture &amp; Tooling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constraints that teams work around — not through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99816" y="1060704"/>
            <a:ext cx="1207008" cy="274320"/>
          </a:xfrm>
          <a:prstGeom prst="rect">
            <a:avLst/>
          </a:prstGeom>
          <a:solidFill>
            <a:srgbClr val="FFF3CD"/>
          </a:solidFill>
          <a:ln w="9525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99816" y="10607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2608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10607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DevOps Leadership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" y="1536192"/>
            <a:ext cx="394106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DevOps lead spans the full XD ecosystem. Ownership is fragmented across projects — standardization and cross-team visibility are absent by design.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98755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24928" y="1060704"/>
            <a:ext cx="1207008" cy="274320"/>
          </a:xfrm>
          <a:prstGeom prst="rect">
            <a:avLst/>
          </a:prstGeom>
          <a:solidFill>
            <a:srgbClr val="FFF3CD"/>
          </a:solidFill>
          <a:ln w="9525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24928" y="10607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mismatch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1772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74920" y="10607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Constraints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36008" y="1536192"/>
            <a:ext cx="394106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available environments does not match demand for parallel releases and faster timelines. High delivery ambition is running against constrained infrastructure.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299923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99816" y="3072384"/>
            <a:ext cx="1207008" cy="274320"/>
          </a:xfrm>
          <a:prstGeom prst="rect">
            <a:avLst/>
          </a:prstGeom>
          <a:solidFill>
            <a:srgbClr val="FFF3CD"/>
          </a:solidFill>
          <a:ln w="9525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99816" y="30723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Platform-induced lag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" y="30723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Tooling (Client Side)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0896" y="3547872"/>
            <a:ext cx="394106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DevOps tooling, slow adoption of modern platforms (e.g., Prism), and extended cycle times (e.g., Gearset delays) create system-induced inefficiencies misattributed to teams.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299923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24928" y="3072384"/>
            <a:ext cx="1207008" cy="274320"/>
          </a:xfrm>
          <a:prstGeom prst="rect">
            <a:avLst/>
          </a:prstGeom>
          <a:solidFill>
            <a:srgbClr val="FFF3CD"/>
          </a:solidFill>
          <a:ln w="9525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24928" y="30723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incentives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74920" y="30723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Competitive Dynamics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36008" y="3547872"/>
            <a:ext cx="394106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vendors (K-Force, TCS, etc.) operate with incentive models that promote fault-finding over collaboration. This creates pressure to route blame toward PwC DevOps regardless of true origin.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2880" y="4965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| DevOps – Root Cause Classification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65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973A"/>
          </a:solidFill>
          <a:ln w="12700">
            <a:solidFill>
              <a:srgbClr val="E8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·  Project &amp; SOW Issues: Planning, Scope &amp; Release Model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 baked in at the contract and planning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397764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39776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" y="10058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IS OPERATING WITH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508760"/>
            <a:ext cx="37033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Bundled PRs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 contains weeks of accumulated work across multiple features. This is the natural output of how the offshore team is structured and how code is reviewed.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High-risk deployments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Long regression cycles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Deployment windows that don't match client cadence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Single PR failure blocks multiple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24528" y="2423160"/>
            <a:ext cx="685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24528" y="24231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65192" y="1005840"/>
            <a:ext cx="397764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65192" y="1005840"/>
            <a:ext cx="397764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65192" y="10058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EXPECTS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02352" y="1508760"/>
            <a:ext cx="37033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/ Bi-Weekly Releases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FPL leadership expects frequent, incremental releases — smaller units of value delivered on a predictable cadence aligned to business milestones.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SOW was not structured to define or enforce a release model. No contractual mechanism links delivery cadence to release frequency, leaving a structural gap that generates ongoing tension.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A2957"/>
          </a:solidFill>
          <a:ln w="12700">
            <a:solidFill>
              <a:srgbClr val="1A2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4965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| DevOps – Root Cause Classification  |  Confidential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0" y="4965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1156</Words>
  <Application>Microsoft Office PowerPoint</Application>
  <PresentationFormat>On-screen Show (16:9)</PresentationFormat>
  <Paragraphs>176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Challenges – Root Cause Classification</dc:title>
  <dc:subject>PptxGenJS Presentation</dc:subject>
  <dc:creator>PptxGenJS</dc:creator>
  <cp:lastModifiedBy>ritesh nanda</cp:lastModifiedBy>
  <cp:revision>2</cp:revision>
  <dcterms:created xsi:type="dcterms:W3CDTF">2026-04-07T19:15:26Z</dcterms:created>
  <dcterms:modified xsi:type="dcterms:W3CDTF">2026-04-07T19:29:45Z</dcterms:modified>
</cp:coreProperties>
</file>