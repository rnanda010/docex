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15422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XD CRM Performance Testing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— IR3.1 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8046720" cy="36576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2560320" cy="1737360"/>
          </a:xfrm>
          <a:prstGeom prst="rect">
            <a:avLst/>
          </a:prstGeom>
          <a:solidFill>
            <a:srgbClr val="0D2D5E"/>
          </a:solidFill>
          <a:ln w="19050">
            <a:solidFill>
              <a:srgbClr val="0097A7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27157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40080" y="32004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Testing Approach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383280" y="2606040"/>
            <a:ext cx="2560320" cy="1737360"/>
          </a:xfrm>
          <a:prstGeom prst="rect">
            <a:avLst/>
          </a:prstGeom>
          <a:solidFill>
            <a:srgbClr val="0D2D5E"/>
          </a:solidFill>
          <a:ln w="19050">
            <a:solidFill>
              <a:srgbClr val="0097A7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74720" y="27157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474720" y="32004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Volumes &amp; Ramp Strategy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17920" y="2606040"/>
            <a:ext cx="2560320" cy="1737360"/>
          </a:xfrm>
          <a:prstGeom prst="rect">
            <a:avLst/>
          </a:prstGeom>
          <a:solidFill>
            <a:srgbClr val="0D2D5E"/>
          </a:solidFill>
          <a:ln w="19050">
            <a:solidFill>
              <a:srgbClr val="0097A7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309360" y="27157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309360" y="32004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IR3.1 Results — Initial &amp; Latest Run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 | CRM Program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64008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Testing Approach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41248"/>
            <a:ext cx="8595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64008" cy="658368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90525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Scope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0" y="1024128"/>
            <a:ext cx="1417320" cy="31089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286000" y="106070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UI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703320" y="1179576"/>
            <a:ext cx="2743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977640" y="1024128"/>
            <a:ext cx="1417320" cy="310896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977640" y="106070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Mulesoft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394960" y="1179576"/>
            <a:ext cx="2743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669280" y="1024128"/>
            <a:ext cx="1417320" cy="31089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669280" y="106070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086600" y="1179576"/>
            <a:ext cx="2743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360920" y="1024128"/>
            <a:ext cx="1417320" cy="31089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60920" y="106070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UI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732020" y="134205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returned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74320" y="160020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74320" y="1600200"/>
            <a:ext cx="64008" cy="169164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" y="169164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We Testing?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1984248"/>
            <a:ext cx="38862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Stream / Journey-based: End-to-end CRM user workflows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Scenarios: Account 360, Premise 360, Customer 360 pages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Type: Performance (response time) + Load (concurrent users)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 Salesforce CRM pages under realistic production load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160020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663440" y="1600200"/>
            <a:ext cx="64008" cy="16916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46320" y="169164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Volumes &amp; Data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46320" y="1984248"/>
            <a:ext cx="38862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concurrent users × 25 calls each = 2,500 requests per scenario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of the 2,500 records is unique (no data reuse)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360 test: 500 each type → 1,500 total requests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Threshold: 90th percentile response time &lt; 5 seconds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3364992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274320" y="3364992"/>
            <a:ext cx="64008" cy="1691640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57200" y="345643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Ramp-Up Strategy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3749040"/>
            <a:ext cx="38862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new user added every 3 seconds (gradual ramp)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users fully ramped after ~300 seconds (5 min)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sudden load spikes on Salesforce / Mulesoft / SAP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3,600 seconds (1 hour) per test run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63440" y="3364992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663440" y="3364992"/>
            <a:ext cx="64008" cy="1691640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846320" y="345643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Infrastructure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846320" y="3749040"/>
            <a:ext cx="38862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Apache JMeter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Groups configured per scenario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Monitoring: Avg response time + 90th percentile line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standard: 40% of users leave if page load &gt; 5 sec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274320" y="5001768"/>
            <a:ext cx="8595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Performance Testing | IR3.1</a:t>
            </a:r>
            <a:endParaRPr lang="en-US" sz="900" dirty="0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B7328F6E-6B1C-4B39-8415-ACFA893327F1}"/>
              </a:ext>
            </a:extLst>
          </p:cNvPr>
          <p:cNvCxnSpPr>
            <a:cxnSpLocks/>
          </p:cNvCxnSpPr>
          <p:nvPr/>
        </p:nvCxnSpPr>
        <p:spPr>
          <a:xfrm>
            <a:off x="7223760" y="1188720"/>
            <a:ext cx="0" cy="153338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6400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IR3.1 Performance Test Results — Initial vs. Final Run Comparison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274320" y="795528"/>
            <a:ext cx="2011680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97A7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20040" y="115214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 Tested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134416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· Premise · Customer 360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441448" y="795528"/>
            <a:ext cx="2011680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C6282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532888" y="82296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/ 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487168" y="115214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Run Result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487168" y="134416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360 pages failed SLA (Feb 20)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4608576" y="795528"/>
            <a:ext cx="2011680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97A7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00016" y="82296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CRAID-2844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654296" y="115214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Filed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654296" y="134416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Raised against all 3 scenarios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6775704" y="795528"/>
            <a:ext cx="2011680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97A7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867144" y="82296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2,500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821424" y="115214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Volume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821424" y="134416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users × 25 calls, all unique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28600" y="1664208"/>
            <a:ext cx="1417320" cy="5303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691640" y="1664208"/>
            <a:ext cx="3154680" cy="256032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846320" y="1664208"/>
            <a:ext cx="4069080" cy="256032"/>
          </a:xfrm>
          <a:prstGeom prst="rect">
            <a:avLst/>
          </a:prstGeom>
          <a:solidFill>
            <a:srgbClr val="005F6B"/>
          </a:solidFill>
          <a:ln w="12700">
            <a:solidFill>
              <a:srgbClr val="005F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846320" y="1664208"/>
            <a:ext cx="0" cy="3405226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691640" y="1700784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Run  —  Feb 20, 2026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46320" y="1700784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Run  —  Mar 6, 2026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691640" y="1920240"/>
            <a:ext cx="3154680" cy="274320"/>
          </a:xfrm>
          <a:prstGeom prst="rect">
            <a:avLst/>
          </a:prstGeom>
          <a:solidFill>
            <a:srgbClr val="22609E"/>
          </a:solidFill>
          <a:ln w="12700">
            <a:solidFill>
              <a:srgbClr val="2260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846320" y="1920240"/>
            <a:ext cx="4069080" cy="27432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28600" y="1956816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691640" y="1956816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Resp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788920" y="1956816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Line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886200" y="195681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846320" y="1956816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Resp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943600" y="1956816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Line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040880" y="195681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092440" y="195681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Met?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228600" y="2194560"/>
            <a:ext cx="8686800" cy="194767"/>
          </a:xfrm>
          <a:prstGeom prst="rect">
            <a:avLst/>
          </a:prstGeom>
          <a:solidFill>
            <a:srgbClr val="F1F5FB"/>
          </a:solidFill>
          <a:ln w="635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274320" y="2221992"/>
            <a:ext cx="132588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360 — Login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691640" y="2221992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0.680s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2788920" y="2221992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0.705s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3886200" y="2221992"/>
            <a:ext cx="91440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846320" y="2221992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5943600" y="2221992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7040880" y="2221992"/>
            <a:ext cx="100584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8092440" y="2221992"/>
            <a:ext cx="8229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228600" y="2389327"/>
            <a:ext cx="8686800" cy="194767"/>
          </a:xfrm>
          <a:prstGeom prst="rect">
            <a:avLst/>
          </a:prstGeom>
          <a:solidFill>
            <a:srgbClr val="F1F5FB"/>
          </a:solidFill>
          <a:ln w="635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274320" y="2416759"/>
            <a:ext cx="132588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360 — Homepage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1691640" y="2416759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0.588s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2788920" y="2416759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0.684s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3886200" y="2416759"/>
            <a:ext cx="91440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4846320" y="2416759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5943600" y="2416759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7040880" y="2416759"/>
            <a:ext cx="100584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8092440" y="2416759"/>
            <a:ext cx="8229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228600" y="2584094"/>
            <a:ext cx="8686800" cy="194767"/>
          </a:xfrm>
          <a:prstGeom prst="rect">
            <a:avLst/>
          </a:prstGeom>
          <a:solidFill>
            <a:srgbClr val="F1F5FB"/>
          </a:solidFill>
          <a:ln w="635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274320" y="2611526"/>
            <a:ext cx="132588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360 — Search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1691640" y="2611526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0.243s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2788920" y="2611526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0.276s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3886200" y="2611526"/>
            <a:ext cx="91440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4846320" y="2611526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5943600" y="2611526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7040880" y="2611526"/>
            <a:ext cx="100584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8092440" y="2611526"/>
            <a:ext cx="8229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228600" y="2778862"/>
            <a:ext cx="8686800" cy="194767"/>
          </a:xfrm>
          <a:prstGeom prst="rect">
            <a:avLst/>
          </a:prstGeom>
          <a:solidFill>
            <a:srgbClr val="FFEBEE"/>
          </a:solidFill>
          <a:ln w="635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274320" y="2806294"/>
            <a:ext cx="132588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360 Page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1691640" y="2806294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23.458s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2788920" y="2806294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32.478s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3886200" y="2806294"/>
            <a:ext cx="91440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4846320" y="2806294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5943600" y="2806294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7040880" y="2806294"/>
            <a:ext cx="100584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8092440" y="2806294"/>
            <a:ext cx="8229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228600" y="2973629"/>
            <a:ext cx="8686800" cy="194767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274320" y="3001061"/>
            <a:ext cx="132588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Premise 360 — Login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1691640" y="3001061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0.680s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2788920" y="3001061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0.705s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3886200" y="3001061"/>
            <a:ext cx="91440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4846320" y="3001061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</a:t>
            </a:r>
            <a:endParaRPr lang="en-US" sz="750" dirty="0"/>
          </a:p>
        </p:txBody>
      </p:sp>
      <p:sp>
        <p:nvSpPr>
          <p:cNvPr id="79" name="Text 77"/>
          <p:cNvSpPr/>
          <p:nvPr/>
        </p:nvSpPr>
        <p:spPr>
          <a:xfrm>
            <a:off x="5943600" y="3001061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</a:t>
            </a:r>
            <a:endParaRPr lang="en-US" sz="750" dirty="0"/>
          </a:p>
        </p:txBody>
      </p:sp>
      <p:sp>
        <p:nvSpPr>
          <p:cNvPr id="80" name="Text 78"/>
          <p:cNvSpPr/>
          <p:nvPr/>
        </p:nvSpPr>
        <p:spPr>
          <a:xfrm>
            <a:off x="7040880" y="3001061"/>
            <a:ext cx="100584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</a:t>
            </a:r>
            <a:endParaRPr lang="en-US" sz="750" dirty="0"/>
          </a:p>
        </p:txBody>
      </p:sp>
      <p:sp>
        <p:nvSpPr>
          <p:cNvPr id="81" name="Text 79"/>
          <p:cNvSpPr/>
          <p:nvPr/>
        </p:nvSpPr>
        <p:spPr>
          <a:xfrm>
            <a:off x="8092440" y="3001061"/>
            <a:ext cx="8229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</a:t>
            </a: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228600" y="3168396"/>
            <a:ext cx="8686800" cy="194767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274320" y="3195828"/>
            <a:ext cx="132588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Premise 360 — Homepage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1691640" y="3195828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0.588s</a:t>
            </a:r>
            <a:endParaRPr lang="en-US" sz="850" dirty="0"/>
          </a:p>
        </p:txBody>
      </p:sp>
      <p:sp>
        <p:nvSpPr>
          <p:cNvPr id="85" name="Text 83"/>
          <p:cNvSpPr/>
          <p:nvPr/>
        </p:nvSpPr>
        <p:spPr>
          <a:xfrm>
            <a:off x="2788920" y="3195828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0.684s</a:t>
            </a:r>
            <a:endParaRPr lang="en-US" sz="850" dirty="0"/>
          </a:p>
        </p:txBody>
      </p:sp>
      <p:sp>
        <p:nvSpPr>
          <p:cNvPr id="86" name="Text 84"/>
          <p:cNvSpPr/>
          <p:nvPr/>
        </p:nvSpPr>
        <p:spPr>
          <a:xfrm>
            <a:off x="3886200" y="3195828"/>
            <a:ext cx="91440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850" dirty="0"/>
          </a:p>
        </p:txBody>
      </p:sp>
      <p:sp>
        <p:nvSpPr>
          <p:cNvPr id="87" name="Text 85"/>
          <p:cNvSpPr/>
          <p:nvPr/>
        </p:nvSpPr>
        <p:spPr>
          <a:xfrm>
            <a:off x="4846320" y="3195828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</a:t>
            </a:r>
            <a:endParaRPr lang="en-US" sz="750" dirty="0"/>
          </a:p>
        </p:txBody>
      </p:sp>
      <p:sp>
        <p:nvSpPr>
          <p:cNvPr id="88" name="Text 86"/>
          <p:cNvSpPr/>
          <p:nvPr/>
        </p:nvSpPr>
        <p:spPr>
          <a:xfrm>
            <a:off x="5943600" y="3195828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</a:t>
            </a:r>
            <a:endParaRPr lang="en-US" sz="750" dirty="0"/>
          </a:p>
        </p:txBody>
      </p:sp>
      <p:sp>
        <p:nvSpPr>
          <p:cNvPr id="89" name="Text 87"/>
          <p:cNvSpPr/>
          <p:nvPr/>
        </p:nvSpPr>
        <p:spPr>
          <a:xfrm>
            <a:off x="7040880" y="3195828"/>
            <a:ext cx="100584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</a:t>
            </a:r>
            <a:endParaRPr lang="en-US" sz="750" dirty="0"/>
          </a:p>
        </p:txBody>
      </p:sp>
      <p:sp>
        <p:nvSpPr>
          <p:cNvPr id="90" name="Text 88"/>
          <p:cNvSpPr/>
          <p:nvPr/>
        </p:nvSpPr>
        <p:spPr>
          <a:xfrm>
            <a:off x="8092440" y="3195828"/>
            <a:ext cx="8229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</a:t>
            </a:r>
            <a:endParaRPr lang="en-US" sz="750" dirty="0"/>
          </a:p>
        </p:txBody>
      </p:sp>
      <p:sp>
        <p:nvSpPr>
          <p:cNvPr id="91" name="Shape 89"/>
          <p:cNvSpPr/>
          <p:nvPr/>
        </p:nvSpPr>
        <p:spPr>
          <a:xfrm>
            <a:off x="228600" y="3363163"/>
            <a:ext cx="8686800" cy="194767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Text 90"/>
          <p:cNvSpPr/>
          <p:nvPr/>
        </p:nvSpPr>
        <p:spPr>
          <a:xfrm>
            <a:off x="274320" y="3390595"/>
            <a:ext cx="132588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Premise 360 — Search</a:t>
            </a:r>
            <a:endParaRPr lang="en-US" sz="850" dirty="0"/>
          </a:p>
        </p:txBody>
      </p:sp>
      <p:sp>
        <p:nvSpPr>
          <p:cNvPr id="93" name="Text 91"/>
          <p:cNvSpPr/>
          <p:nvPr/>
        </p:nvSpPr>
        <p:spPr>
          <a:xfrm>
            <a:off x="1691640" y="3390595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0.255s</a:t>
            </a:r>
            <a:endParaRPr lang="en-US" sz="850" dirty="0"/>
          </a:p>
        </p:txBody>
      </p:sp>
      <p:sp>
        <p:nvSpPr>
          <p:cNvPr id="94" name="Text 92"/>
          <p:cNvSpPr/>
          <p:nvPr/>
        </p:nvSpPr>
        <p:spPr>
          <a:xfrm>
            <a:off x="2788920" y="3390595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0.298s</a:t>
            </a:r>
            <a:endParaRPr lang="en-US" sz="850" dirty="0"/>
          </a:p>
        </p:txBody>
      </p:sp>
      <p:sp>
        <p:nvSpPr>
          <p:cNvPr id="95" name="Text 93"/>
          <p:cNvSpPr/>
          <p:nvPr/>
        </p:nvSpPr>
        <p:spPr>
          <a:xfrm>
            <a:off x="3886200" y="3390595"/>
            <a:ext cx="91440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850" dirty="0"/>
          </a:p>
        </p:txBody>
      </p:sp>
      <p:sp>
        <p:nvSpPr>
          <p:cNvPr id="96" name="Text 94"/>
          <p:cNvSpPr/>
          <p:nvPr/>
        </p:nvSpPr>
        <p:spPr>
          <a:xfrm>
            <a:off x="4846320" y="3390595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</a:t>
            </a:r>
            <a:endParaRPr lang="en-US" sz="750" dirty="0"/>
          </a:p>
        </p:txBody>
      </p:sp>
      <p:sp>
        <p:nvSpPr>
          <p:cNvPr id="97" name="Text 95"/>
          <p:cNvSpPr/>
          <p:nvPr/>
        </p:nvSpPr>
        <p:spPr>
          <a:xfrm>
            <a:off x="5943600" y="3390595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</a:t>
            </a:r>
            <a:endParaRPr lang="en-US" sz="750" dirty="0"/>
          </a:p>
        </p:txBody>
      </p:sp>
      <p:sp>
        <p:nvSpPr>
          <p:cNvPr id="98" name="Text 96"/>
          <p:cNvSpPr/>
          <p:nvPr/>
        </p:nvSpPr>
        <p:spPr>
          <a:xfrm>
            <a:off x="7040880" y="3390595"/>
            <a:ext cx="100584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</a:t>
            </a:r>
            <a:endParaRPr lang="en-US" sz="750" dirty="0"/>
          </a:p>
        </p:txBody>
      </p:sp>
      <p:sp>
        <p:nvSpPr>
          <p:cNvPr id="99" name="Text 97"/>
          <p:cNvSpPr/>
          <p:nvPr/>
        </p:nvSpPr>
        <p:spPr>
          <a:xfrm>
            <a:off x="8092440" y="3390595"/>
            <a:ext cx="8229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</a:t>
            </a:r>
            <a:endParaRPr lang="en-US" sz="750" dirty="0"/>
          </a:p>
        </p:txBody>
      </p:sp>
      <p:sp>
        <p:nvSpPr>
          <p:cNvPr id="100" name="Shape 98"/>
          <p:cNvSpPr/>
          <p:nvPr/>
        </p:nvSpPr>
        <p:spPr>
          <a:xfrm>
            <a:off x="228600" y="3557930"/>
            <a:ext cx="8686800" cy="194767"/>
          </a:xfrm>
          <a:prstGeom prst="rect">
            <a:avLst/>
          </a:prstGeom>
          <a:solidFill>
            <a:srgbClr val="FFEBEE"/>
          </a:solidFill>
          <a:ln w="635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Text 99"/>
          <p:cNvSpPr/>
          <p:nvPr/>
        </p:nvSpPr>
        <p:spPr>
          <a:xfrm>
            <a:off x="274320" y="3585362"/>
            <a:ext cx="132588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Premise 360 Page</a:t>
            </a:r>
            <a:endParaRPr lang="en-US" sz="850" dirty="0"/>
          </a:p>
        </p:txBody>
      </p:sp>
      <p:sp>
        <p:nvSpPr>
          <p:cNvPr id="102" name="Text 100"/>
          <p:cNvSpPr/>
          <p:nvPr/>
        </p:nvSpPr>
        <p:spPr>
          <a:xfrm>
            <a:off x="1691640" y="3585362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22.880s</a:t>
            </a:r>
            <a:endParaRPr lang="en-US" sz="850" dirty="0"/>
          </a:p>
        </p:txBody>
      </p:sp>
      <p:sp>
        <p:nvSpPr>
          <p:cNvPr id="103" name="Text 101"/>
          <p:cNvSpPr/>
          <p:nvPr/>
        </p:nvSpPr>
        <p:spPr>
          <a:xfrm>
            <a:off x="2788920" y="3585362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48.493s</a:t>
            </a:r>
            <a:endParaRPr lang="en-US" sz="850" dirty="0"/>
          </a:p>
        </p:txBody>
      </p:sp>
      <p:sp>
        <p:nvSpPr>
          <p:cNvPr id="104" name="Text 102"/>
          <p:cNvSpPr/>
          <p:nvPr/>
        </p:nvSpPr>
        <p:spPr>
          <a:xfrm>
            <a:off x="3886200" y="3585362"/>
            <a:ext cx="91440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</a:t>
            </a:r>
            <a:endParaRPr lang="en-US" sz="850" dirty="0"/>
          </a:p>
        </p:txBody>
      </p:sp>
      <p:sp>
        <p:nvSpPr>
          <p:cNvPr id="105" name="Text 103"/>
          <p:cNvSpPr/>
          <p:nvPr/>
        </p:nvSpPr>
        <p:spPr>
          <a:xfrm>
            <a:off x="4846320" y="3585362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</a:t>
            </a:r>
            <a:endParaRPr lang="en-US" sz="750" dirty="0"/>
          </a:p>
        </p:txBody>
      </p:sp>
      <p:sp>
        <p:nvSpPr>
          <p:cNvPr id="106" name="Text 104"/>
          <p:cNvSpPr/>
          <p:nvPr/>
        </p:nvSpPr>
        <p:spPr>
          <a:xfrm>
            <a:off x="5943600" y="3585362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</a:t>
            </a:r>
            <a:endParaRPr lang="en-US" sz="750" dirty="0"/>
          </a:p>
        </p:txBody>
      </p:sp>
      <p:sp>
        <p:nvSpPr>
          <p:cNvPr id="107" name="Text 105"/>
          <p:cNvSpPr/>
          <p:nvPr/>
        </p:nvSpPr>
        <p:spPr>
          <a:xfrm>
            <a:off x="7040880" y="3585362"/>
            <a:ext cx="100584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</a:t>
            </a:r>
            <a:endParaRPr lang="en-US" sz="750" dirty="0"/>
          </a:p>
        </p:txBody>
      </p:sp>
      <p:sp>
        <p:nvSpPr>
          <p:cNvPr id="108" name="Text 106"/>
          <p:cNvSpPr/>
          <p:nvPr/>
        </p:nvSpPr>
        <p:spPr>
          <a:xfrm>
            <a:off x="8092440" y="3585362"/>
            <a:ext cx="8229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</a:t>
            </a:r>
            <a:endParaRPr lang="en-US" sz="750" dirty="0"/>
          </a:p>
        </p:txBody>
      </p:sp>
      <p:sp>
        <p:nvSpPr>
          <p:cNvPr id="109" name="Shape 107"/>
          <p:cNvSpPr/>
          <p:nvPr/>
        </p:nvSpPr>
        <p:spPr>
          <a:xfrm>
            <a:off x="228600" y="3752698"/>
            <a:ext cx="8686800" cy="194767"/>
          </a:xfrm>
          <a:prstGeom prst="rect">
            <a:avLst/>
          </a:prstGeom>
          <a:solidFill>
            <a:srgbClr val="F1F5FB"/>
          </a:solidFill>
          <a:ln w="635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Text 108"/>
          <p:cNvSpPr/>
          <p:nvPr/>
        </p:nvSpPr>
        <p:spPr>
          <a:xfrm>
            <a:off x="274320" y="3780130"/>
            <a:ext cx="132588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360 — Login</a:t>
            </a:r>
            <a:endParaRPr lang="en-US" sz="850" dirty="0"/>
          </a:p>
        </p:txBody>
      </p:sp>
      <p:sp>
        <p:nvSpPr>
          <p:cNvPr id="111" name="Text 109"/>
          <p:cNvSpPr/>
          <p:nvPr/>
        </p:nvSpPr>
        <p:spPr>
          <a:xfrm>
            <a:off x="1691640" y="3780130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0.680s</a:t>
            </a:r>
            <a:endParaRPr lang="en-US" sz="850" dirty="0"/>
          </a:p>
        </p:txBody>
      </p:sp>
      <p:sp>
        <p:nvSpPr>
          <p:cNvPr id="112" name="Text 110"/>
          <p:cNvSpPr/>
          <p:nvPr/>
        </p:nvSpPr>
        <p:spPr>
          <a:xfrm>
            <a:off x="2788920" y="3780130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0.705s</a:t>
            </a:r>
            <a:endParaRPr lang="en-US" sz="850" dirty="0"/>
          </a:p>
        </p:txBody>
      </p:sp>
      <p:sp>
        <p:nvSpPr>
          <p:cNvPr id="113" name="Text 111"/>
          <p:cNvSpPr/>
          <p:nvPr/>
        </p:nvSpPr>
        <p:spPr>
          <a:xfrm>
            <a:off x="3886200" y="3780130"/>
            <a:ext cx="91440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850" dirty="0"/>
          </a:p>
        </p:txBody>
      </p:sp>
      <p:sp>
        <p:nvSpPr>
          <p:cNvPr id="114" name="Text 112"/>
          <p:cNvSpPr/>
          <p:nvPr/>
        </p:nvSpPr>
        <p:spPr>
          <a:xfrm>
            <a:off x="4846320" y="3780130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</a:t>
            </a:r>
            <a:endParaRPr lang="en-US" sz="750" dirty="0"/>
          </a:p>
        </p:txBody>
      </p:sp>
      <p:sp>
        <p:nvSpPr>
          <p:cNvPr id="115" name="Text 113"/>
          <p:cNvSpPr/>
          <p:nvPr/>
        </p:nvSpPr>
        <p:spPr>
          <a:xfrm>
            <a:off x="5943600" y="3780130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</a:t>
            </a:r>
            <a:endParaRPr lang="en-US" sz="750" dirty="0"/>
          </a:p>
        </p:txBody>
      </p:sp>
      <p:sp>
        <p:nvSpPr>
          <p:cNvPr id="116" name="Text 114"/>
          <p:cNvSpPr/>
          <p:nvPr/>
        </p:nvSpPr>
        <p:spPr>
          <a:xfrm>
            <a:off x="7040880" y="3780130"/>
            <a:ext cx="100584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</a:t>
            </a:r>
            <a:endParaRPr lang="en-US" sz="750" dirty="0"/>
          </a:p>
        </p:txBody>
      </p:sp>
      <p:sp>
        <p:nvSpPr>
          <p:cNvPr id="117" name="Text 115"/>
          <p:cNvSpPr/>
          <p:nvPr/>
        </p:nvSpPr>
        <p:spPr>
          <a:xfrm>
            <a:off x="8092440" y="3780130"/>
            <a:ext cx="8229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</a:t>
            </a:r>
            <a:endParaRPr lang="en-US" sz="750" dirty="0"/>
          </a:p>
        </p:txBody>
      </p:sp>
      <p:sp>
        <p:nvSpPr>
          <p:cNvPr id="118" name="Shape 116"/>
          <p:cNvSpPr/>
          <p:nvPr/>
        </p:nvSpPr>
        <p:spPr>
          <a:xfrm>
            <a:off x="228600" y="3947465"/>
            <a:ext cx="8686800" cy="194767"/>
          </a:xfrm>
          <a:prstGeom prst="rect">
            <a:avLst/>
          </a:prstGeom>
          <a:solidFill>
            <a:srgbClr val="F1F5FB"/>
          </a:solidFill>
          <a:ln w="635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Text 117"/>
          <p:cNvSpPr/>
          <p:nvPr/>
        </p:nvSpPr>
        <p:spPr>
          <a:xfrm>
            <a:off x="274320" y="3974897"/>
            <a:ext cx="132588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360 — Homepage</a:t>
            </a:r>
            <a:endParaRPr lang="en-US" sz="850" dirty="0"/>
          </a:p>
        </p:txBody>
      </p:sp>
      <p:sp>
        <p:nvSpPr>
          <p:cNvPr id="120" name="Text 118"/>
          <p:cNvSpPr/>
          <p:nvPr/>
        </p:nvSpPr>
        <p:spPr>
          <a:xfrm>
            <a:off x="1691640" y="3974897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0.588s</a:t>
            </a:r>
            <a:endParaRPr lang="en-US" sz="850" dirty="0"/>
          </a:p>
        </p:txBody>
      </p:sp>
      <p:sp>
        <p:nvSpPr>
          <p:cNvPr id="121" name="Text 119"/>
          <p:cNvSpPr/>
          <p:nvPr/>
        </p:nvSpPr>
        <p:spPr>
          <a:xfrm>
            <a:off x="2788920" y="3974897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0.684s</a:t>
            </a:r>
            <a:endParaRPr lang="en-US" sz="850" dirty="0"/>
          </a:p>
        </p:txBody>
      </p:sp>
      <p:sp>
        <p:nvSpPr>
          <p:cNvPr id="122" name="Text 120"/>
          <p:cNvSpPr/>
          <p:nvPr/>
        </p:nvSpPr>
        <p:spPr>
          <a:xfrm>
            <a:off x="3886200" y="3974897"/>
            <a:ext cx="91440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850" dirty="0"/>
          </a:p>
        </p:txBody>
      </p:sp>
      <p:sp>
        <p:nvSpPr>
          <p:cNvPr id="123" name="Text 121"/>
          <p:cNvSpPr/>
          <p:nvPr/>
        </p:nvSpPr>
        <p:spPr>
          <a:xfrm>
            <a:off x="4846320" y="3974897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</a:t>
            </a:r>
            <a:endParaRPr lang="en-US" sz="750" dirty="0"/>
          </a:p>
        </p:txBody>
      </p:sp>
      <p:sp>
        <p:nvSpPr>
          <p:cNvPr id="124" name="Text 122"/>
          <p:cNvSpPr/>
          <p:nvPr/>
        </p:nvSpPr>
        <p:spPr>
          <a:xfrm>
            <a:off x="5943600" y="3974897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</a:t>
            </a:r>
            <a:endParaRPr lang="en-US" sz="750" dirty="0"/>
          </a:p>
        </p:txBody>
      </p:sp>
      <p:sp>
        <p:nvSpPr>
          <p:cNvPr id="125" name="Text 123"/>
          <p:cNvSpPr/>
          <p:nvPr/>
        </p:nvSpPr>
        <p:spPr>
          <a:xfrm>
            <a:off x="7040880" y="3974897"/>
            <a:ext cx="100584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</a:t>
            </a:r>
            <a:endParaRPr lang="en-US" sz="750" dirty="0"/>
          </a:p>
        </p:txBody>
      </p:sp>
      <p:sp>
        <p:nvSpPr>
          <p:cNvPr id="126" name="Text 124"/>
          <p:cNvSpPr/>
          <p:nvPr/>
        </p:nvSpPr>
        <p:spPr>
          <a:xfrm>
            <a:off x="8092440" y="3974897"/>
            <a:ext cx="8229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</a:t>
            </a:r>
            <a:endParaRPr lang="en-US" sz="750" dirty="0"/>
          </a:p>
        </p:txBody>
      </p:sp>
      <p:sp>
        <p:nvSpPr>
          <p:cNvPr id="127" name="Shape 125"/>
          <p:cNvSpPr/>
          <p:nvPr/>
        </p:nvSpPr>
        <p:spPr>
          <a:xfrm>
            <a:off x="228600" y="4142232"/>
            <a:ext cx="8686800" cy="194767"/>
          </a:xfrm>
          <a:prstGeom prst="rect">
            <a:avLst/>
          </a:prstGeom>
          <a:solidFill>
            <a:srgbClr val="F1F5FB"/>
          </a:solidFill>
          <a:ln w="635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8" name="Text 126"/>
          <p:cNvSpPr/>
          <p:nvPr/>
        </p:nvSpPr>
        <p:spPr>
          <a:xfrm>
            <a:off x="274320" y="4169664"/>
            <a:ext cx="132588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360 — Search</a:t>
            </a:r>
            <a:endParaRPr lang="en-US" sz="850" dirty="0"/>
          </a:p>
        </p:txBody>
      </p:sp>
      <p:sp>
        <p:nvSpPr>
          <p:cNvPr id="129" name="Text 127"/>
          <p:cNvSpPr/>
          <p:nvPr/>
        </p:nvSpPr>
        <p:spPr>
          <a:xfrm>
            <a:off x="1691640" y="4169664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0.164s</a:t>
            </a:r>
            <a:endParaRPr lang="en-US" sz="850" dirty="0"/>
          </a:p>
        </p:txBody>
      </p:sp>
      <p:sp>
        <p:nvSpPr>
          <p:cNvPr id="130" name="Text 128"/>
          <p:cNvSpPr/>
          <p:nvPr/>
        </p:nvSpPr>
        <p:spPr>
          <a:xfrm>
            <a:off x="2788920" y="4169664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0.196s</a:t>
            </a:r>
            <a:endParaRPr lang="en-US" sz="850" dirty="0"/>
          </a:p>
        </p:txBody>
      </p:sp>
      <p:sp>
        <p:nvSpPr>
          <p:cNvPr id="131" name="Text 129"/>
          <p:cNvSpPr/>
          <p:nvPr/>
        </p:nvSpPr>
        <p:spPr>
          <a:xfrm>
            <a:off x="3886200" y="4169664"/>
            <a:ext cx="91440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850" dirty="0"/>
          </a:p>
        </p:txBody>
      </p:sp>
      <p:sp>
        <p:nvSpPr>
          <p:cNvPr id="132" name="Text 130"/>
          <p:cNvSpPr/>
          <p:nvPr/>
        </p:nvSpPr>
        <p:spPr>
          <a:xfrm>
            <a:off x="4846320" y="4169664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</a:t>
            </a:r>
            <a:endParaRPr lang="en-US" sz="750" dirty="0"/>
          </a:p>
        </p:txBody>
      </p:sp>
      <p:sp>
        <p:nvSpPr>
          <p:cNvPr id="133" name="Text 131"/>
          <p:cNvSpPr/>
          <p:nvPr/>
        </p:nvSpPr>
        <p:spPr>
          <a:xfrm>
            <a:off x="5943600" y="4169664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</a:t>
            </a:r>
            <a:endParaRPr lang="en-US" sz="750" dirty="0"/>
          </a:p>
        </p:txBody>
      </p:sp>
      <p:sp>
        <p:nvSpPr>
          <p:cNvPr id="134" name="Text 132"/>
          <p:cNvSpPr/>
          <p:nvPr/>
        </p:nvSpPr>
        <p:spPr>
          <a:xfrm>
            <a:off x="7040880" y="4169664"/>
            <a:ext cx="100584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</a:t>
            </a:r>
            <a:endParaRPr lang="en-US" sz="750" dirty="0"/>
          </a:p>
        </p:txBody>
      </p:sp>
      <p:sp>
        <p:nvSpPr>
          <p:cNvPr id="135" name="Text 133"/>
          <p:cNvSpPr/>
          <p:nvPr/>
        </p:nvSpPr>
        <p:spPr>
          <a:xfrm>
            <a:off x="8092440" y="4169664"/>
            <a:ext cx="8229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</a:t>
            </a:r>
            <a:endParaRPr lang="en-US" sz="750" dirty="0"/>
          </a:p>
        </p:txBody>
      </p:sp>
      <p:sp>
        <p:nvSpPr>
          <p:cNvPr id="136" name="Shape 134"/>
          <p:cNvSpPr/>
          <p:nvPr/>
        </p:nvSpPr>
        <p:spPr>
          <a:xfrm>
            <a:off x="228600" y="4336999"/>
            <a:ext cx="8686800" cy="194767"/>
          </a:xfrm>
          <a:prstGeom prst="rect">
            <a:avLst/>
          </a:prstGeom>
          <a:solidFill>
            <a:srgbClr val="FFEBEE"/>
          </a:solidFill>
          <a:ln w="635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7" name="Text 135"/>
          <p:cNvSpPr/>
          <p:nvPr/>
        </p:nvSpPr>
        <p:spPr>
          <a:xfrm>
            <a:off x="274320" y="4364431"/>
            <a:ext cx="132588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360 Page</a:t>
            </a:r>
            <a:endParaRPr lang="en-US" sz="850" dirty="0"/>
          </a:p>
        </p:txBody>
      </p:sp>
      <p:sp>
        <p:nvSpPr>
          <p:cNvPr id="138" name="Text 136"/>
          <p:cNvSpPr/>
          <p:nvPr/>
        </p:nvSpPr>
        <p:spPr>
          <a:xfrm>
            <a:off x="1691640" y="4364431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14.130s</a:t>
            </a:r>
            <a:endParaRPr lang="en-US" sz="850" dirty="0"/>
          </a:p>
        </p:txBody>
      </p:sp>
      <p:sp>
        <p:nvSpPr>
          <p:cNvPr id="139" name="Text 137"/>
          <p:cNvSpPr/>
          <p:nvPr/>
        </p:nvSpPr>
        <p:spPr>
          <a:xfrm>
            <a:off x="2788920" y="4364431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27.719s</a:t>
            </a:r>
            <a:endParaRPr lang="en-US" sz="850" dirty="0"/>
          </a:p>
        </p:txBody>
      </p:sp>
      <p:sp>
        <p:nvSpPr>
          <p:cNvPr id="140" name="Text 138"/>
          <p:cNvSpPr/>
          <p:nvPr/>
        </p:nvSpPr>
        <p:spPr>
          <a:xfrm>
            <a:off x="3886200" y="4364431"/>
            <a:ext cx="91440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</a:t>
            </a:r>
            <a:endParaRPr lang="en-US" sz="850" dirty="0"/>
          </a:p>
        </p:txBody>
      </p:sp>
      <p:sp>
        <p:nvSpPr>
          <p:cNvPr id="141" name="Text 139"/>
          <p:cNvSpPr/>
          <p:nvPr/>
        </p:nvSpPr>
        <p:spPr>
          <a:xfrm>
            <a:off x="4846320" y="4364431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</a:t>
            </a:r>
            <a:endParaRPr lang="en-US" sz="750" dirty="0"/>
          </a:p>
        </p:txBody>
      </p:sp>
      <p:sp>
        <p:nvSpPr>
          <p:cNvPr id="142" name="Text 140"/>
          <p:cNvSpPr/>
          <p:nvPr/>
        </p:nvSpPr>
        <p:spPr>
          <a:xfrm>
            <a:off x="5943600" y="4364431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</a:t>
            </a:r>
            <a:endParaRPr lang="en-US" sz="750" dirty="0"/>
          </a:p>
        </p:txBody>
      </p:sp>
      <p:sp>
        <p:nvSpPr>
          <p:cNvPr id="143" name="Text 141"/>
          <p:cNvSpPr/>
          <p:nvPr/>
        </p:nvSpPr>
        <p:spPr>
          <a:xfrm>
            <a:off x="7040880" y="4364431"/>
            <a:ext cx="100584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</a:t>
            </a:r>
            <a:endParaRPr lang="en-US" sz="750" dirty="0"/>
          </a:p>
        </p:txBody>
      </p:sp>
      <p:sp>
        <p:nvSpPr>
          <p:cNvPr id="144" name="Text 142"/>
          <p:cNvSpPr/>
          <p:nvPr/>
        </p:nvSpPr>
        <p:spPr>
          <a:xfrm>
            <a:off x="8092440" y="4364431"/>
            <a:ext cx="8229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</a:t>
            </a:r>
            <a:endParaRPr lang="en-US" sz="750" dirty="0"/>
          </a:p>
        </p:txBody>
      </p:sp>
      <p:sp>
        <p:nvSpPr>
          <p:cNvPr id="145" name="Shape 143"/>
          <p:cNvSpPr/>
          <p:nvPr/>
        </p:nvSpPr>
        <p:spPr>
          <a:xfrm>
            <a:off x="0" y="4690872"/>
            <a:ext cx="9144000" cy="30175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6" name="Text 144"/>
          <p:cNvSpPr/>
          <p:nvPr/>
        </p:nvSpPr>
        <p:spPr>
          <a:xfrm>
            <a:off x="274320" y="4709160"/>
            <a:ext cx="8595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Run: All three 360 pages exceeded the 5s SLA — Defect CRAID-2844 filed. Final run results (Mar 6) to be updated above.</a:t>
            </a:r>
            <a:endParaRPr lang="en-US" sz="950" dirty="0"/>
          </a:p>
        </p:txBody>
      </p:sp>
      <p:sp>
        <p:nvSpPr>
          <p:cNvPr id="147" name="Shape 145"/>
          <p:cNvSpPr/>
          <p:nvPr/>
        </p:nvSpPr>
        <p:spPr>
          <a:xfrm>
            <a:off x="0" y="5001768"/>
            <a:ext cx="9144000" cy="14630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8" name="Text 146"/>
          <p:cNvSpPr/>
          <p:nvPr/>
        </p:nvSpPr>
        <p:spPr>
          <a:xfrm>
            <a:off x="274320" y="5010912"/>
            <a:ext cx="8595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Performance Testing | IR3.1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475</Words>
  <Application>Microsoft Office PowerPoint</Application>
  <PresentationFormat>On-screen Show (16:9)</PresentationFormat>
  <Paragraphs>161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ritesh nanda</cp:lastModifiedBy>
  <cp:revision>3</cp:revision>
  <dcterms:created xsi:type="dcterms:W3CDTF">2026-03-06T08:14:28Z</dcterms:created>
  <dcterms:modified xsi:type="dcterms:W3CDTF">2026-03-06T08:22:11Z</dcterms:modified>
</cp:coreProperties>
</file>